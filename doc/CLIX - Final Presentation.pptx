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2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4" r:id="rId28"/>
    <p:sldId id="28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585229-4C2A-A7ED-F72F-C79B9CB94300}" v="190" dt="2025-05-07T18:29:19.743"/>
    <p1510:client id="{A8F27A71-1ABC-988B-55CA-DD8CAB407AE2}" v="24" dt="2025-05-07T17:09:55.311"/>
    <p1510:client id="{E2C8C3AA-D87F-9AFA-8B53-07825B64D2E0}" v="321" dt="2025-05-07T17:55:13.2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444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299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998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102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429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7881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492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981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995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30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67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5/7/2025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212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tbsnews.net/bangladesh/infrastructure/chattogram-wasa-install-3000-smart-meters-june-366958" TargetMode="External"/><Relationship Id="rId4" Type="http://schemas.openxmlformats.org/officeDocument/2006/relationships/hyperlink" Target="https://www.tbsnews.net/bangladesh/infrastructure/ctg-wasa-set-tk3745cr-water-supply-overhaul-993926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dhakatribune.com/bangladesh/dhaka/326236/electrocution-in-mirpur-locals-informed-desco" TargetMode="External"/><Relationship Id="rId4" Type="http://schemas.openxmlformats.org/officeDocument/2006/relationships/hyperlink" Target="https://youtu.be/AWrl37p4BBo?si=gknaNY8rcD-JH7op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thedailystar.net/news/bangladesh/news/gas-crisis-hits-households-industries-3794371" TargetMode="External"/><Relationship Id="rId4" Type="http://schemas.openxmlformats.org/officeDocument/2006/relationships/hyperlink" Target="https://www.youtube.com/watch?v=VFi9TFeZAJo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esco.portal.gov.bd/sites/default/files/files/desco.portal.gov.bd/annual_reports/53a050f7_b049_4240_a7a1_6e5bbc29efef/2024-01-24-11-17-53ad67c2def0af6563a12bbd840586a0.pdf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mart-energy.com/regional-news/asia/50000-smart-meter-lorawan-retrofit-in-indonesia/" TargetMode="External"/><Relationship Id="rId2" Type="http://schemas.openxmlformats.org/officeDocument/2006/relationships/hyperlink" Target="https://www.thegpstime.com/battery-powered-smart-metering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hyperlink" Target="https://investors.semtech.com/news/semtech-s-lora-devices-create-smarter-grids-with-accurate-line-fault-detection/212be7e9-a1a4-4316-9e71-31dde1b4b61e/" TargetMode="External"/><Relationship Id="rId4" Type="http://schemas.openxmlformats.org/officeDocument/2006/relationships/hyperlink" Target="https://www.semtech.com/company/press/elvexys-releases-monitoring-solution-detecting-power-grid-failures-with-semtechs-lora-devices-and-the-lorawan-standard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BC0hSv_kpTU?si=xN14wY-bE92OHXYl" TargetMode="External"/><Relationship Id="rId2" Type="http://schemas.openxmlformats.org/officeDocument/2006/relationships/hyperlink" Target="https://www.tbsnews.net/bangladesh/infrastructure/chattogram-wasa-install-3000-smart-meters-june-366958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openxmlformats.org/officeDocument/2006/relationships/hyperlink" Target="https://www.tbsnews.net/bangladesh/infrastructure/ctg-wasa-set-tk3745cr-water-supply-overhaul-993926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hyperlink" Target="https://www.tbsnews.net/bangladesh/infrastructure/chattogram-wasa-install-3000-smart-meters-june-366958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bsnews.net/bangladesh/infrastructure/chattogram-wasa-install-3000-smart-meters-june-366958" TargetMode="External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1A0A9671-5B92-26A2-799A-51ADF0E39F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5352229"/>
            <a:ext cx="12202174" cy="1519356"/>
            <a:chOff x="0" y="-29768"/>
            <a:chExt cx="12202174" cy="1519356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1CC6B4C-401C-575A-AE8E-2739C2374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DEFFA9F-9B89-18D4-F35B-F234DBA679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289101" y="-1429602"/>
              <a:ext cx="1507122" cy="4319024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7AAAC44-71DE-C03C-8778-4B46866A1F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880884" y="-2910652"/>
              <a:ext cx="1519356" cy="7281123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  <a:alpha val="70000"/>
                  </a:schemeClr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5595614"/>
            <a:ext cx="6869906" cy="913975"/>
          </a:xfrm>
        </p:spPr>
        <p:txBody>
          <a:bodyPr anchor="ctr">
            <a:normAutofit/>
          </a:bodyPr>
          <a:lstStyle/>
          <a:p>
            <a:pPr algn="l"/>
            <a:r>
              <a:rPr lang="en-US" sz="2700">
                <a:solidFill>
                  <a:srgbClr val="FFFFFF"/>
                </a:solidFill>
                <a:ea typeface="+mj-lt"/>
                <a:cs typeface="+mj-lt"/>
              </a:rPr>
              <a:t>CLIX: AI-Driven Smart Utility Management System for Bangladesh</a:t>
            </a:r>
            <a:endParaRPr lang="en-US" sz="2700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08106" y="5586418"/>
            <a:ext cx="3607595" cy="9340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1600" b="1" dirty="0">
                <a:solidFill>
                  <a:srgbClr val="FFFFFF"/>
                </a:solidFill>
                <a:ea typeface="+mn-lt"/>
                <a:cs typeface="+mn-lt"/>
              </a:rPr>
              <a:t>Presented by:</a:t>
            </a:r>
            <a:r>
              <a:rPr lang="en-US" sz="16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FFFFFF"/>
                </a:solidFill>
                <a:ea typeface="+mn-lt"/>
                <a:cs typeface="+mn-lt"/>
              </a:rPr>
              <a:t>CodeCrafters</a:t>
            </a:r>
            <a:endParaRPr lang="en-US" sz="1600">
              <a:solidFill>
                <a:srgbClr val="FFFFFF"/>
              </a:solidFill>
              <a:ea typeface="Calibri"/>
              <a:cs typeface="Calibri"/>
            </a:endParaRPr>
          </a:p>
        </p:txBody>
      </p:sp>
      <p:pic>
        <p:nvPicPr>
          <p:cNvPr id="6" name="Picture 5" descr="A logo with a leaf&#10;&#10;AI-generated content may be incorrect.">
            <a:extLst>
              <a:ext uri="{FF2B5EF4-FFF2-40B4-BE49-F238E27FC236}">
                <a16:creationId xmlns:a16="http://schemas.microsoft.com/office/drawing/2014/main" id="{A02FC0FD-B1EE-6043-1063-C07C030A0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299" y="702218"/>
            <a:ext cx="10439401" cy="3862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7EE1E-055B-F7B1-1FC9-184056C8D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86257"/>
            <a:ext cx="6926703" cy="804161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2000" b="1" dirty="0"/>
              <a:t>THE PROBLEM - CRITICAL INFRASTRUCTURE LOSSES</a:t>
            </a:r>
            <a:endParaRPr lang="en-US" sz="2000" b="1">
              <a:ea typeface="Calibri Light"/>
              <a:cs typeface="Calibri Light"/>
            </a:endParaRPr>
          </a:p>
          <a:p>
            <a:br>
              <a:rPr lang="en-US" sz="1500" b="1" dirty="0"/>
            </a:br>
            <a:endParaRPr lang="en-US" sz="2000" b="1">
              <a:ea typeface="Calibri Light"/>
              <a:cs typeface="Calibri Light"/>
            </a:endParaRPr>
          </a:p>
        </p:txBody>
      </p:sp>
      <p:pic>
        <p:nvPicPr>
          <p:cNvPr id="4" name="Content Placeholder 3" descr="As water supply in Chattogram remains disrupted for a second day yesterday, due to pipeline damage in Kuaish area. PHOTO: COLLECTED, RAJIB RAIHAN&#10;">
            <a:extLst>
              <a:ext uri="{FF2B5EF4-FFF2-40B4-BE49-F238E27FC236}">
                <a16:creationId xmlns:a16="http://schemas.microsoft.com/office/drawing/2014/main" id="{48AD37BD-C6C2-9029-ECF7-BCAA360C2E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1634" b="11377"/>
          <a:stretch/>
        </p:blipFill>
        <p:spPr>
          <a:xfrm>
            <a:off x="20" y="10"/>
            <a:ext cx="12191980" cy="5279933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0E76F6F3-F5F0-B26D-1B63-73AD0299B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5193518"/>
            <a:ext cx="12207200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BC84BA2-BCC1-89D4-5592-8B2364E6B8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9C4FA24-7C12-A16B-31C2-891750171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27474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2CB19-4909-E8CE-E2AF-A2DD236D6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741391"/>
            <a:ext cx="5211301" cy="1616203"/>
          </a:xfrm>
        </p:spPr>
        <p:txBody>
          <a:bodyPr anchor="b">
            <a:normAutofit/>
          </a:bodyPr>
          <a:lstStyle/>
          <a:p>
            <a:r>
              <a:rPr lang="en-US" sz="3200">
                <a:latin typeface="Helvetica Neue"/>
              </a:rPr>
              <a:t>Water Supply Crisis</a:t>
            </a:r>
            <a:endParaRPr lang="en-US" sz="3200"/>
          </a:p>
          <a:p>
            <a:br>
              <a:rPr lang="en-US" sz="3200"/>
            </a:br>
            <a:endParaRPr lang="en-US" sz="3200"/>
          </a:p>
        </p:txBody>
      </p:sp>
      <p:pic>
        <p:nvPicPr>
          <p:cNvPr id="4" name="Picture 3" descr="A screenshot of a website&#10;&#10;AI-generated content may be incorrect.">
            <a:extLst>
              <a:ext uri="{FF2B5EF4-FFF2-40B4-BE49-F238E27FC236}">
                <a16:creationId xmlns:a16="http://schemas.microsoft.com/office/drawing/2014/main" id="{1CC2157C-AA4F-5607-5FA4-1A2101FDA9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012" r="12830" b="-1"/>
          <a:stretch/>
        </p:blipFill>
        <p:spPr>
          <a:xfrm>
            <a:off x="20" y="-18829"/>
            <a:ext cx="5433960" cy="3455514"/>
          </a:xfrm>
          <a:prstGeom prst="rect">
            <a:avLst/>
          </a:prstGeom>
        </p:spPr>
      </p:pic>
      <p:pic>
        <p:nvPicPr>
          <p:cNvPr id="5" name="Picture 4" descr="A screenshot of a website&#10;&#10;AI-generated content may be incorrect.">
            <a:extLst>
              <a:ext uri="{FF2B5EF4-FFF2-40B4-BE49-F238E27FC236}">
                <a16:creationId xmlns:a16="http://schemas.microsoft.com/office/drawing/2014/main" id="{063DCB03-7BB1-7AC0-8F06-7D11A6D7D7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39" r="19846" b="1"/>
          <a:stretch/>
        </p:blipFill>
        <p:spPr>
          <a:xfrm>
            <a:off x="20" y="3421856"/>
            <a:ext cx="5433962" cy="3447832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923615DC-F5A3-677C-DB79-DA387F11F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CB2E658-9767-8805-2BCB-63F4F3AECE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BEA709A9-EE8C-7D2E-43D2-E8A342BA0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27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5660A-8FCB-DD32-745A-A0DFF1778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2533476"/>
            <a:ext cx="5211301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</a:pPr>
            <a:r>
              <a:rPr lang="en-US" sz="2000">
                <a:latin typeface="Helvetica Neue"/>
              </a:rPr>
              <a:t>"Chattogram WASA experiences 25-30% non-revenue water loss, much higher than the global standard of less than 5%" (</a:t>
            </a:r>
            <a:r>
              <a:rPr lang="en-US" sz="2000">
                <a:latin typeface="Helvetica Neue"/>
                <a:hlinkClick r:id="rId4"/>
              </a:rPr>
              <a:t>The Business Standard, 2024</a:t>
            </a:r>
            <a:r>
              <a:rPr lang="en-US" sz="2000">
                <a:latin typeface="Helvetica Neue"/>
              </a:rPr>
              <a:t>)</a:t>
            </a:r>
            <a:endParaRPr lang="en-US" sz="2000"/>
          </a:p>
          <a:p>
            <a:pPr>
              <a:buFont typeface="Arial"/>
            </a:pPr>
            <a:r>
              <a:rPr lang="en-US" sz="2000">
                <a:latin typeface="Helvetica Neue"/>
              </a:rPr>
              <a:t>"A loss of Tk14-17 crore worth of water every month" (</a:t>
            </a:r>
            <a:r>
              <a:rPr lang="en-US" sz="2000">
                <a:latin typeface="Helvetica Neue"/>
                <a:hlinkClick r:id="rId4"/>
              </a:rPr>
              <a:t>The Business Standard, 2024</a:t>
            </a:r>
            <a:r>
              <a:rPr lang="en-US" sz="2000">
                <a:latin typeface="Helvetica Neue"/>
              </a:rPr>
              <a:t>)</a:t>
            </a:r>
            <a:endParaRPr lang="en-US" sz="2000"/>
          </a:p>
          <a:p>
            <a:pPr>
              <a:buFont typeface="Arial"/>
            </a:pPr>
            <a:r>
              <a:rPr lang="en-US" sz="2000">
                <a:latin typeface="Helvetica Neue"/>
              </a:rPr>
              <a:t>"42 Meter Inspectors for 78,000 connections" leads to inaccurate readings (</a:t>
            </a:r>
            <a:r>
              <a:rPr lang="en-US" sz="2000">
                <a:latin typeface="Helvetica Neue"/>
                <a:hlinkClick r:id="rId5"/>
              </a:rPr>
              <a:t>The Business Standard, 2022</a:t>
            </a:r>
            <a:r>
              <a:rPr lang="en-US" sz="2000">
                <a:latin typeface="Helvetica Neue"/>
              </a:rPr>
              <a:t>)</a:t>
            </a:r>
            <a:endParaRPr lang="en-US" sz="2000"/>
          </a:p>
          <a:p>
            <a:pPr marL="0" indent="0">
              <a:buNone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357744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AC82F-D759-DF95-407E-0A3E7BFA6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741391"/>
            <a:ext cx="5211301" cy="1616203"/>
          </a:xfrm>
        </p:spPr>
        <p:txBody>
          <a:bodyPr anchor="b">
            <a:normAutofit/>
          </a:bodyPr>
          <a:lstStyle/>
          <a:p>
            <a:r>
              <a:rPr lang="en-US" sz="3200" b="1">
                <a:latin typeface="Helvetica Neue"/>
              </a:rPr>
              <a:t>Electricity Distribution Failures</a:t>
            </a:r>
            <a:endParaRPr lang="en-US" sz="3200"/>
          </a:p>
        </p:txBody>
      </p:sp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339702D-9902-3535-D803-9EE954183F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908" r="19934" b="-1"/>
          <a:stretch/>
        </p:blipFill>
        <p:spPr>
          <a:xfrm>
            <a:off x="20" y="-18829"/>
            <a:ext cx="5433960" cy="3455514"/>
          </a:xfrm>
          <a:prstGeom prst="rect">
            <a:avLst/>
          </a:prstGeom>
        </p:spPr>
      </p:pic>
      <p:pic>
        <p:nvPicPr>
          <p:cNvPr id="5" name="Picture 4" descr="A screenshot of a web page&#10;&#10;AI-generated content may be incorrect.">
            <a:extLst>
              <a:ext uri="{FF2B5EF4-FFF2-40B4-BE49-F238E27FC236}">
                <a16:creationId xmlns:a16="http://schemas.microsoft.com/office/drawing/2014/main" id="{EA2F25A8-3C0F-3B2B-2DFC-B3F7DFB89E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373" r="1" b="1"/>
          <a:stretch/>
        </p:blipFill>
        <p:spPr>
          <a:xfrm>
            <a:off x="20" y="3421856"/>
            <a:ext cx="5433962" cy="3447832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923615DC-F5A3-677C-DB79-DA387F11F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CB2E658-9767-8805-2BCB-63F4F3AECE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EA709A9-EE8C-7D2E-43D2-E8A342BA0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27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D1EBA-7008-CAF8-E47A-DCA235DEC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2533476"/>
            <a:ext cx="5211301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 sz="2000" dirty="0">
                <a:latin typeface="Helvetica Neue"/>
                <a:ea typeface="Calibri" panose="020F0502020204030204"/>
                <a:cs typeface="Calibri" panose="020F0502020204030204"/>
              </a:rPr>
              <a:t>"5 lakh defective meters out of 3.5 crore" nationwide (</a:t>
            </a:r>
            <a:r>
              <a:rPr lang="en-US" sz="2000" dirty="0">
                <a:latin typeface="Helvetica Neue"/>
                <a:ea typeface="Calibri" panose="020F0502020204030204"/>
                <a:cs typeface="Calibri" panose="020F0502020204030204"/>
                <a:hlinkClick r:id="rId4"/>
              </a:rPr>
              <a:t>ATN News - Jul 16, 2024</a:t>
            </a:r>
            <a:r>
              <a:rPr lang="en-US" sz="2000" dirty="0">
                <a:latin typeface="Helvetica Neue"/>
                <a:ea typeface="Calibri" panose="020F0502020204030204"/>
                <a:cs typeface="Calibri" panose="020F0502020204030204"/>
              </a:rPr>
              <a:t>)</a:t>
            </a:r>
            <a:endParaRPr lang="en-US" sz="2000" dirty="0"/>
          </a:p>
          <a:p>
            <a:pPr>
              <a:buFont typeface="Arial"/>
              <a:buChar char="•"/>
            </a:pPr>
            <a:r>
              <a:rPr lang="en-US" sz="2000">
                <a:latin typeface="Helvetica Neue"/>
                <a:ea typeface="Calibri" panose="020F0502020204030204"/>
                <a:cs typeface="Calibri" panose="020F0502020204030204"/>
              </a:rPr>
              <a:t>Elderly users struggle with "token codes with over 100 digits" (CLIX exclusive interview)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latin typeface="Helvetica Neue"/>
                <a:ea typeface="Calibri" panose="020F0502020204030204"/>
                <a:cs typeface="Calibri" panose="020F0502020204030204"/>
              </a:rPr>
              <a:t>"Four people were electrocuted when the power cable fell into the waterlogged area in Mirpur" (</a:t>
            </a:r>
            <a:r>
              <a:rPr lang="en-US" sz="2000">
                <a:latin typeface="Helvetica Neue"/>
                <a:ea typeface="Calibri" panose="020F0502020204030204"/>
                <a:cs typeface="Calibri" panose="020F0502020204030204"/>
                <a:hlinkClick r:id="rId5"/>
              </a:rPr>
              <a:t>DhakaTribune, 2023</a:t>
            </a:r>
            <a:r>
              <a:rPr lang="en-US" sz="2000">
                <a:latin typeface="Helvetica Neue"/>
                <a:ea typeface="Calibri" panose="020F0502020204030204"/>
                <a:cs typeface="Calibri" panose="020F0502020204030204"/>
              </a:rPr>
              <a:t>)</a:t>
            </a:r>
            <a:endParaRPr lang="en-US" sz="2000"/>
          </a:p>
          <a:p>
            <a:pPr marL="0" indent="0">
              <a:buNone/>
            </a:pPr>
            <a:endParaRPr lang="en-US" sz="200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751660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A8D63-C010-93F1-9618-3F4550BFF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741391"/>
            <a:ext cx="5211301" cy="1616203"/>
          </a:xfrm>
        </p:spPr>
        <p:txBody>
          <a:bodyPr anchor="b">
            <a:normAutofit/>
          </a:bodyPr>
          <a:lstStyle/>
          <a:p>
            <a:r>
              <a:rPr lang="en-US" sz="3200" b="1" dirty="0">
                <a:latin typeface="Helvetica Neue"/>
              </a:rPr>
              <a:t>Gas System Inefficiencies</a:t>
            </a:r>
            <a:endParaRPr lang="en-US" sz="3200" dirty="0"/>
          </a:p>
          <a:p>
            <a:br>
              <a:rPr lang="en-US" sz="3200"/>
            </a:br>
            <a:endParaRPr lang="en-US" sz="3200"/>
          </a:p>
        </p:txBody>
      </p:sp>
      <p:pic>
        <p:nvPicPr>
          <p:cNvPr id="5" name="Picture 4" descr="A screenshot of a newspaper&#10;&#10;AI-generated content may be incorrect.">
            <a:extLst>
              <a:ext uri="{FF2B5EF4-FFF2-40B4-BE49-F238E27FC236}">
                <a16:creationId xmlns:a16="http://schemas.microsoft.com/office/drawing/2014/main" id="{0D8A95F9-5E16-0C0D-EC83-1453035E99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52" r="22290" b="-1"/>
          <a:stretch/>
        </p:blipFill>
        <p:spPr>
          <a:xfrm>
            <a:off x="20" y="-18829"/>
            <a:ext cx="5433960" cy="3455514"/>
          </a:xfrm>
          <a:prstGeom prst="rect">
            <a:avLst/>
          </a:prstGeom>
        </p:spPr>
      </p:pic>
      <p:pic>
        <p:nvPicPr>
          <p:cNvPr id="4" name="Picture 3" descr="A screenshot of a news show&#10;&#10;AI-generated content may be incorrect.">
            <a:extLst>
              <a:ext uri="{FF2B5EF4-FFF2-40B4-BE49-F238E27FC236}">
                <a16:creationId xmlns:a16="http://schemas.microsoft.com/office/drawing/2014/main" id="{CFBBDCEE-8645-0DFF-8D6F-AD3613885F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8684" b="1"/>
          <a:stretch/>
        </p:blipFill>
        <p:spPr>
          <a:xfrm>
            <a:off x="20" y="3421856"/>
            <a:ext cx="5433962" cy="3447832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923615DC-F5A3-677C-DB79-DA387F11F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CB2E658-9767-8805-2BCB-63F4F3AECE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EA709A9-EE8C-7D2E-43D2-E8A342BA0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27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E3473-3C08-066C-D1AA-442A689487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2533476"/>
            <a:ext cx="5211301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 sz="2000" dirty="0">
                <a:latin typeface="Helvetica Neue"/>
                <a:ea typeface="Calibri" panose="020F0502020204030204"/>
                <a:cs typeface="Calibri" panose="020F0502020204030204"/>
              </a:rPr>
              <a:t>Titas Gas reported system losses of "7.67%, where BRC standardized 2%" (</a:t>
            </a:r>
            <a:r>
              <a:rPr lang="en-US" sz="2000" dirty="0">
                <a:latin typeface="Helvetica Neue"/>
                <a:ea typeface="Calibri" panose="020F0502020204030204"/>
                <a:cs typeface="Calibri" panose="020F0502020204030204"/>
                <a:hlinkClick r:id="rId4"/>
              </a:rPr>
              <a:t>Independent TV, 2025</a:t>
            </a:r>
            <a:r>
              <a:rPr lang="en-US" sz="2000" dirty="0">
                <a:latin typeface="Helvetica Neue"/>
                <a:ea typeface="Calibri" panose="020F0502020204030204"/>
                <a:cs typeface="Calibri" panose="020F0502020204030204"/>
              </a:rPr>
              <a:t>)</a:t>
            </a:r>
            <a:endParaRPr lang="en-US" sz="2000" dirty="0"/>
          </a:p>
          <a:p>
            <a:pPr>
              <a:buFont typeface="Arial"/>
              <a:buChar char="•"/>
            </a:pPr>
            <a:r>
              <a:rPr lang="en-US" sz="2000" dirty="0">
                <a:latin typeface="Helvetica Neue"/>
                <a:ea typeface="Calibri" panose="020F0502020204030204"/>
                <a:cs typeface="Calibri" panose="020F0502020204030204"/>
              </a:rPr>
              <a:t>Losses costing "3000 Cr BDT annually" (</a:t>
            </a:r>
            <a:r>
              <a:rPr lang="en-US" sz="2000" dirty="0">
                <a:latin typeface="Helvetica Neue"/>
                <a:ea typeface="Calibri" panose="020F0502020204030204"/>
                <a:cs typeface="Calibri" panose="020F0502020204030204"/>
                <a:hlinkClick r:id="rId4"/>
              </a:rPr>
              <a:t>Independent TV, 2025</a:t>
            </a:r>
            <a:r>
              <a:rPr lang="en-US" sz="2000" dirty="0">
                <a:latin typeface="Helvetica Neue"/>
                <a:ea typeface="Calibri" panose="020F0502020204030204"/>
                <a:cs typeface="Calibri" panose="020F0502020204030204"/>
              </a:rPr>
              <a:t>)</a:t>
            </a:r>
            <a:endParaRPr lang="en-US" sz="2000" dirty="0"/>
          </a:p>
          <a:p>
            <a:pPr>
              <a:buFont typeface="Arial"/>
              <a:buChar char="•"/>
            </a:pPr>
            <a:r>
              <a:rPr lang="en-US" sz="2000">
                <a:latin typeface="Helvetica Neue"/>
                <a:ea typeface="Calibri" panose="020F0502020204030204"/>
                <a:cs typeface="Calibri" panose="020F0502020204030204"/>
              </a:rPr>
              <a:t>Factories "cutting production by almost a third" due to inadequate gas pressure (</a:t>
            </a:r>
            <a:r>
              <a:rPr lang="en-US" sz="2000">
                <a:latin typeface="Helvetica Neue"/>
                <a:ea typeface="Calibri" panose="020F0502020204030204"/>
                <a:cs typeface="Calibri" panose="020F0502020204030204"/>
                <a:hlinkClick r:id="rId5"/>
              </a:rPr>
              <a:t>Daily Star, 2025</a:t>
            </a:r>
            <a:r>
              <a:rPr lang="en-US" sz="2000">
                <a:latin typeface="Helvetica Neue"/>
                <a:ea typeface="Calibri" panose="020F0502020204030204"/>
                <a:cs typeface="Calibri" panose="020F0502020204030204"/>
              </a:rPr>
              <a:t>)</a:t>
            </a:r>
            <a:endParaRPr lang="en-US" sz="2000"/>
          </a:p>
          <a:p>
            <a:pPr marL="0" indent="0">
              <a:buNone/>
            </a:pPr>
            <a:br>
              <a:rPr lang="en-US" sz="2000"/>
            </a:b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983637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731DBD42-1DF5-F172-B1F5-B966CEFC3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-1" y="4439601"/>
            <a:ext cx="12202175" cy="2431984"/>
            <a:chOff x="-1" y="-29768"/>
            <a:chExt cx="12202175" cy="1519356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9355FCF-1FBC-38E0-6366-30A98CF87C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5494C1B-3451-03EE-59A7-B38557EC84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289101" y="-1429602"/>
              <a:ext cx="1507122" cy="4319024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2448E7E-0999-BEAC-FD6D-656E0A048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962663" y="-3992432"/>
              <a:ext cx="1519356" cy="9444683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  <a:alpha val="70000"/>
                  </a:schemeClr>
                </a:gs>
              </a:gsLst>
              <a:lin ang="9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3D49917-080E-163D-F224-545979BE8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6243" y="4695886"/>
            <a:ext cx="8949690" cy="91821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br>
              <a:rPr lang="en-US" sz="2500">
                <a:solidFill>
                  <a:srgbClr val="FFFFFF"/>
                </a:solidFill>
              </a:rPr>
            </a:br>
            <a:r>
              <a:rPr lang="en-US" sz="2500" b="1">
                <a:solidFill>
                  <a:srgbClr val="FFFFFF"/>
                </a:solidFill>
              </a:rPr>
              <a:t>The Solution: CLIX (Convenient Living &amp; Integrated Experience)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ADCFD54-4DFB-955B-DAC7-CF743A6FB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99" y="1235263"/>
            <a:ext cx="2375259" cy="2357444"/>
          </a:xfrm>
          <a:prstGeom prst="rect">
            <a:avLst/>
          </a:prstGeom>
        </p:spPr>
      </p:pic>
      <p:pic>
        <p:nvPicPr>
          <p:cNvPr id="7" name="Picture 6" descr="A screenshot of a invoice&#10;&#10;AI-generated content may be incorrect.">
            <a:extLst>
              <a:ext uri="{FF2B5EF4-FFF2-40B4-BE49-F238E27FC236}">
                <a16:creationId xmlns:a16="http://schemas.microsoft.com/office/drawing/2014/main" id="{5EDAADB2-5609-DE65-14C7-E8C8B84F6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7837" y="1639057"/>
            <a:ext cx="2375259" cy="1953650"/>
          </a:xfrm>
          <a:prstGeom prst="rect">
            <a:avLst/>
          </a:prstGeom>
        </p:spPr>
      </p:pic>
      <p:pic>
        <p:nvPicPr>
          <p:cNvPr id="6" name="Picture 5" descr="A screenshot of a map&#10;&#10;AI-generated content may be incorrect.">
            <a:extLst>
              <a:ext uri="{FF2B5EF4-FFF2-40B4-BE49-F238E27FC236}">
                <a16:creationId xmlns:a16="http://schemas.microsoft.com/office/drawing/2014/main" id="{E2D662E1-E736-5418-A9B0-67FC267AB0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156" y="876301"/>
            <a:ext cx="2356481" cy="2716406"/>
          </a:xfrm>
          <a:prstGeom prst="rect">
            <a:avLst/>
          </a:prstGeom>
        </p:spPr>
      </p:pic>
      <p:pic>
        <p:nvPicPr>
          <p:cNvPr id="4" name="Content Placeholder 3" descr="A screenshot of a web page&#10;&#10;AI-generated content may be incorrect.">
            <a:extLst>
              <a:ext uri="{FF2B5EF4-FFF2-40B4-BE49-F238E27FC236}">
                <a16:creationId xmlns:a16="http://schemas.microsoft.com/office/drawing/2014/main" id="{3C52F64F-7D3B-7417-B5A2-7B6F862C54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3107" y="2025037"/>
            <a:ext cx="2375259" cy="1567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81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1095953A-7DC0-3F46-6E96-31FBC9B1A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760503" y="-18309"/>
            <a:ext cx="4438566" cy="6883029"/>
            <a:chOff x="7760503" y="-18309"/>
            <a:chExt cx="4438566" cy="6883029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07A3D96-0FAB-1097-EDDA-3FEF83BF3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0512" y="-11580"/>
              <a:ext cx="4431490" cy="6876300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EAB96BF-DFB3-4E65-F857-5FB098087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7760503" y="1713600"/>
              <a:ext cx="4431496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F350EA2-C795-0DD6-A39B-C92018940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0509" y="-11586"/>
              <a:ext cx="3264743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4AC1597-691C-C2BF-535E-B9DBBAA76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6547151" y="1202115"/>
              <a:ext cx="6872341" cy="4431494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B956591-FC07-7E7A-F7A9-103D3E3CC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8214" y="1489363"/>
            <a:ext cx="3310215" cy="298726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Dashboard</a:t>
            </a:r>
          </a:p>
          <a:p>
            <a:b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32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B341530-DC7B-9E3F-08BF-3838350F9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706" y="684399"/>
            <a:ext cx="5556119" cy="5514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697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121E93-D70C-4875-83B6-FBFAD5196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1095953A-7DC0-3F46-6E96-31FBC9B1A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760503" y="-18309"/>
            <a:ext cx="4438566" cy="6883029"/>
            <a:chOff x="7760503" y="-18309"/>
            <a:chExt cx="4438566" cy="6883029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07A3D96-0FAB-1097-EDDA-3FEF83BF3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0512" y="-11580"/>
              <a:ext cx="4431490" cy="6876300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EAB96BF-DFB3-4E65-F857-5FB098087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7760503" y="1713600"/>
              <a:ext cx="4431496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F350EA2-C795-0DD6-A39B-C92018940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0509" y="-11586"/>
              <a:ext cx="3264743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4AC1597-691C-C2BF-535E-B9DBBAA76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6547151" y="1202115"/>
              <a:ext cx="6872341" cy="4431494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26D95F5-7D53-C600-9178-4E9F0B553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8214" y="1489363"/>
            <a:ext cx="3310215" cy="298726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Outage Map</a:t>
            </a:r>
          </a:p>
          <a:p>
            <a:b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32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b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32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 descr="A map of a city&#10;&#10;AI-generated content may be incorrect.">
            <a:extLst>
              <a:ext uri="{FF2B5EF4-FFF2-40B4-BE49-F238E27FC236}">
                <a16:creationId xmlns:a16="http://schemas.microsoft.com/office/drawing/2014/main" id="{D724BA70-75BB-F861-9CC8-9ADC9431B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874" y="684399"/>
            <a:ext cx="4783783" cy="5514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39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126013-D561-2F36-0680-F2D4DB20E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1095953A-7DC0-3F46-6E96-31FBC9B1A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760503" y="-18309"/>
            <a:ext cx="4438566" cy="6883029"/>
            <a:chOff x="7760503" y="-18309"/>
            <a:chExt cx="4438566" cy="6883029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07A3D96-0FAB-1097-EDDA-3FEF83BF3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0512" y="-11580"/>
              <a:ext cx="4431490" cy="6876300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9EAB96BF-DFB3-4E65-F857-5FB098087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7760503" y="1713600"/>
              <a:ext cx="4431496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F350EA2-C795-0DD6-A39B-C92018940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0509" y="-11586"/>
              <a:ext cx="3264743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4AC1597-691C-C2BF-535E-B9DBBAA76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6547151" y="1202115"/>
              <a:ext cx="6872341" cy="4431494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B81A6B8-5EF3-BCC9-6009-1CC837CDD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8214" y="1489363"/>
            <a:ext cx="3310215" cy="298726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Recharge History</a:t>
            </a:r>
          </a:p>
          <a:p>
            <a:b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32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A screenshot of a web page&#10;&#10;AI-generated content may be incorrect.">
            <a:extLst>
              <a:ext uri="{FF2B5EF4-FFF2-40B4-BE49-F238E27FC236}">
                <a16:creationId xmlns:a16="http://schemas.microsoft.com/office/drawing/2014/main" id="{5132FFA5-1D14-18A2-A76A-07EA7D16B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276" y="1370881"/>
            <a:ext cx="6274979" cy="4141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205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0B589F22-3762-444E-9FC9-BE1800ABE3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08" y="-15640"/>
            <a:ext cx="4633823" cy="6873639"/>
            <a:chOff x="-3208" y="-15640"/>
            <a:chExt cx="4633823" cy="6873639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23909A00-EE5C-7921-011D-2243441BC5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1115296" y="1112089"/>
              <a:ext cx="6857999" cy="4633821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2CBD214-1DC9-F322-5194-DA04BAC2FE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1123116" y="1104268"/>
              <a:ext cx="6873639" cy="463382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  <a:alpha val="92000"/>
                  </a:schemeClr>
                </a:gs>
                <a:gs pos="41000">
                  <a:schemeClr val="accent5">
                    <a:lumMod val="75000"/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6EAF9FB-B8E3-9BF3-8388-AE1AC0CB41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890955" y="-462733"/>
              <a:ext cx="3284738" cy="4194579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70000"/>
                  </a:schemeClr>
                </a:gs>
                <a:gs pos="5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0B6CCAD-6E88-1228-CF89-025F19584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606" y="1582615"/>
            <a:ext cx="3356194" cy="36693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CLIX Overview</a:t>
            </a:r>
            <a:endParaRPr lang="en-US" sz="32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48CED7-09F5-6A91-BE84-2B09388FC3A7}"/>
              </a:ext>
            </a:extLst>
          </p:cNvPr>
          <p:cNvSpPr txBox="1"/>
          <p:nvPr/>
        </p:nvSpPr>
        <p:spPr>
          <a:xfrm>
            <a:off x="5498124" y="874782"/>
            <a:ext cx="5820508" cy="510691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/>
              <a:t>Integrated Technology Platform</a:t>
            </a:r>
            <a:endParaRPr lang="en-US" sz="14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/>
              <a:t>LoRaWAN-enabled smart meters</a:t>
            </a:r>
            <a:r>
              <a:rPr lang="en-US" sz="1400"/>
              <a:t> with tamper detection and </a:t>
            </a:r>
            <a:r>
              <a:rPr lang="en-US" sz="1400" b="1"/>
              <a:t>AES-128 encryption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/>
              <a:t>Unified management dashboard</a:t>
            </a:r>
            <a:r>
              <a:rPr lang="en-US" sz="1400"/>
              <a:t> for real-time monitoring across all utilities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/>
              <a:t>AI-driven analytics</a:t>
            </a:r>
            <a:r>
              <a:rPr lang="en-US" sz="1400"/>
              <a:t> for: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Leak detection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Theft identification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Equipment failure prediction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/>
              <a:t>Multi-channel payment integration</a:t>
            </a:r>
            <a:r>
              <a:rPr lang="en-US" sz="1400"/>
              <a:t>, including mobile banking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/>
              <a:t>Real-time outage management</a:t>
            </a:r>
            <a:r>
              <a:rPr lang="en-US" sz="1400"/>
              <a:t> with push notifications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/>
              <a:t>Multi-language consumer portal</a:t>
            </a:r>
            <a:r>
              <a:rPr lang="en-US" sz="1400"/>
              <a:t> with usage tracking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br>
              <a:rPr lang="en-US" sz="1400"/>
            </a:br>
            <a:endParaRPr lang="en-US" sz="14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/>
              <a:t>Key Objectives</a:t>
            </a:r>
            <a:endParaRPr lang="en-US" sz="14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Reduce </a:t>
            </a:r>
            <a:r>
              <a:rPr lang="en-US" sz="1400" b="1"/>
              <a:t>non-revenue losses</a:t>
            </a:r>
            <a:r>
              <a:rPr lang="en-US" sz="1400"/>
              <a:t> across all utilities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Deploy </a:t>
            </a:r>
            <a:r>
              <a:rPr lang="en-US" sz="1400" b="1"/>
              <a:t>automated meter reading</a:t>
            </a:r>
            <a:r>
              <a:rPr lang="en-US" sz="1400"/>
              <a:t> and billing systems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Enhance service reliability via </a:t>
            </a:r>
            <a:r>
              <a:rPr lang="en-US" sz="1400" b="1"/>
              <a:t>predictive maintenance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Establish a </a:t>
            </a:r>
            <a:r>
              <a:rPr lang="en-US" sz="1400" b="1"/>
              <a:t>unified platform</a:t>
            </a:r>
            <a:r>
              <a:rPr lang="en-US" sz="1400"/>
              <a:t> for all utility operations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76197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A0A9671-5B92-26A2-799A-51ADF0E39F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5352229"/>
            <a:ext cx="12202174" cy="1519356"/>
            <a:chOff x="0" y="-29768"/>
            <a:chExt cx="12202174" cy="151935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1CC6B4C-401C-575A-AE8E-2739C2374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DEFFA9F-9B89-18D4-F35B-F234DBA679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289101" y="-1429602"/>
              <a:ext cx="1507122" cy="4319024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7AAAC44-71DE-C03C-8778-4B46866A1F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880884" y="-2910652"/>
              <a:ext cx="1519356" cy="7281123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  <a:alpha val="70000"/>
                  </a:schemeClr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6EEE1E2-9AC7-8D67-0318-4F42A5CC7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5614"/>
            <a:ext cx="6869906" cy="91397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Now What is AND Why </a:t>
            </a:r>
            <a:r>
              <a:rPr lang="en-US" sz="1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LoRaWAN</a:t>
            </a:r>
            <a:r>
              <a:rPr lang="en-US" sz="1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?</a:t>
            </a:r>
          </a:p>
          <a:p>
            <a:br>
              <a:rPr lang="en-US" sz="1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18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 descr="LoRaWAN Protocol: Everything You Need to Know - Wattsense">
            <a:extLst>
              <a:ext uri="{FF2B5EF4-FFF2-40B4-BE49-F238E27FC236}">
                <a16:creationId xmlns:a16="http://schemas.microsoft.com/office/drawing/2014/main" id="{1CA9E77E-9FFC-9D6F-21CB-E28EE826B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299" y="947299"/>
            <a:ext cx="10439401" cy="3372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244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51184-E8BB-E006-E71B-0DC0CE28A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4597747" cy="1616203"/>
          </a:xfrm>
        </p:spPr>
        <p:txBody>
          <a:bodyPr anchor="b">
            <a:normAutofit/>
          </a:bodyPr>
          <a:lstStyle/>
          <a:p>
            <a:r>
              <a:rPr lang="en-US" sz="3200" b="1">
                <a:ea typeface="+mj-lt"/>
                <a:cs typeface="+mj-lt"/>
              </a:rPr>
              <a:t>What is LoRaWAN?</a:t>
            </a:r>
            <a:endParaRPr 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3138C-D20D-501A-2387-F866FBF44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4597746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Long Range Wide Area Network technology for IoT applications</a:t>
            </a:r>
          </a:p>
          <a:p>
            <a:pPr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Uses Chirp Spread Spectrum modulation for resilience</a:t>
            </a:r>
          </a:p>
          <a:p>
            <a:pPr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Long-range connectivity (10-15km) with minimal power consumption</a:t>
            </a:r>
          </a:p>
          <a:p>
            <a:pPr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Battery life of 7-10 years on a single charge</a:t>
            </a:r>
            <a:endParaRPr lang="en-US" sz="1400"/>
          </a:p>
          <a:p>
            <a:pPr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AES-128 encryption for secure end-to-end data protection</a:t>
            </a:r>
          </a:p>
          <a:p>
            <a:pPr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Operation on license-free spectrum, eliminating ongoing costs</a:t>
            </a:r>
          </a:p>
          <a:p>
            <a:pPr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Support for thousands of devices per gateway with minimal infrastructure</a:t>
            </a:r>
          </a:p>
          <a:p>
            <a:pPr>
              <a:buNone/>
            </a:pPr>
            <a:endParaRPr lang="en-US" sz="1400">
              <a:latin typeface="Arial"/>
              <a:ea typeface="Calibri" panose="020F0502020204030204"/>
              <a:cs typeface="Arial"/>
            </a:endParaRPr>
          </a:p>
        </p:txBody>
      </p:sp>
      <p:pic>
        <p:nvPicPr>
          <p:cNvPr id="5" name="Picture 4" descr="LoRa Sensor Range - Enless Wireless">
            <a:extLst>
              <a:ext uri="{FF2B5EF4-FFF2-40B4-BE49-F238E27FC236}">
                <a16:creationId xmlns:a16="http://schemas.microsoft.com/office/drawing/2014/main" id="{BAD221D4-4EFA-6A76-8A50-86D7799E0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1" y="1602924"/>
            <a:ext cx="5319062" cy="3577069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048299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B907A-F5E9-57FA-AFA8-6683CE554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0892" y="741391"/>
            <a:ext cx="3269384" cy="1616203"/>
          </a:xfrm>
        </p:spPr>
        <p:txBody>
          <a:bodyPr anchor="b">
            <a:normAutofit/>
          </a:bodyPr>
          <a:lstStyle/>
          <a:p>
            <a:r>
              <a:rPr lang="en-US" sz="3200">
                <a:ea typeface="+mj-lt"/>
                <a:cs typeface="+mj-lt"/>
              </a:rPr>
              <a:t>Technical Advantages of LoRaWAN</a:t>
            </a:r>
            <a:endParaRPr lang="en-US" sz="3200"/>
          </a:p>
        </p:txBody>
      </p:sp>
      <p:pic>
        <p:nvPicPr>
          <p:cNvPr id="15" name="Picture 14" descr="SDM230-Lora Single Phase LoRaWAN Multi-function Energy Meter for IOT  Solutions Manufacturers, Factory - Eastron Electronic Co., Ltd.">
            <a:extLst>
              <a:ext uri="{FF2B5EF4-FFF2-40B4-BE49-F238E27FC236}">
                <a16:creationId xmlns:a16="http://schemas.microsoft.com/office/drawing/2014/main" id="{880A48C6-AB63-5B81-2137-3B527CB0D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518" y="1037992"/>
            <a:ext cx="4746267" cy="4788997"/>
          </a:xfrm>
          <a:prstGeom prst="rect">
            <a:avLst/>
          </a:prstGeom>
        </p:spPr>
      </p:pic>
      <p:pic>
        <p:nvPicPr>
          <p:cNvPr id="14" name="Picture 13" descr="Smart Card Based Single Phase Pre-paid Energy Meter Model No.: TSS-PPM560SP">
            <a:extLst>
              <a:ext uri="{FF2B5EF4-FFF2-40B4-BE49-F238E27FC236}">
                <a16:creationId xmlns:a16="http://schemas.microsoft.com/office/drawing/2014/main" id="{7DC4A305-0654-E94F-BAC6-BF28ED858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3032" y="1550390"/>
            <a:ext cx="2414485" cy="3878138"/>
          </a:xfrm>
          <a:prstGeom prst="rect">
            <a:avLst/>
          </a:prstGeom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8DD7A16-6319-19C4-4166-79083623F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0890" y="2533476"/>
            <a:ext cx="3240264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1000" b="1">
                <a:latin typeface="Arial"/>
                <a:ea typeface="+mn-lt"/>
                <a:cs typeface="Arial"/>
              </a:rPr>
              <a:t>Current Challenges</a:t>
            </a:r>
            <a:endParaRPr lang="en-US" sz="1000"/>
          </a:p>
          <a:p>
            <a:pPr>
              <a:buFont typeface="Arial"/>
              <a:buChar char="•"/>
            </a:pPr>
            <a:r>
              <a:rPr lang="en-US" sz="1000" b="1">
                <a:latin typeface="Arial"/>
                <a:ea typeface="+mn-lt"/>
                <a:cs typeface="Arial"/>
              </a:rPr>
              <a:t>5.72%</a:t>
            </a:r>
            <a:r>
              <a:rPr lang="en-US" sz="1000">
                <a:latin typeface="Arial"/>
                <a:ea typeface="+mn-lt"/>
                <a:cs typeface="Arial"/>
              </a:rPr>
              <a:t> losses in electricity. (</a:t>
            </a:r>
            <a:r>
              <a:rPr lang="en-US" sz="1000">
                <a:latin typeface="Arial"/>
                <a:ea typeface="+mn-lt"/>
                <a:cs typeface="Arial"/>
                <a:hlinkClick r:id="rId4"/>
              </a:rPr>
              <a:t>DESCO Annual Report 2023</a:t>
            </a:r>
            <a:r>
              <a:rPr lang="en-US" sz="1000">
                <a:latin typeface="Arial"/>
                <a:ea typeface="+mn-lt"/>
                <a:cs typeface="Arial"/>
              </a:rPr>
              <a:t>)</a:t>
            </a:r>
            <a:endParaRPr lang="en-US" sz="1000"/>
          </a:p>
          <a:p>
            <a:pPr>
              <a:buFont typeface="Arial"/>
              <a:buChar char="•"/>
            </a:pPr>
            <a:r>
              <a:rPr lang="en-US" sz="1000">
                <a:latin typeface="Arial"/>
                <a:ea typeface="+mn-lt"/>
                <a:cs typeface="Arial"/>
              </a:rPr>
              <a:t>Limited effectiveness of current GSM-based communication systems</a:t>
            </a:r>
            <a:endParaRPr lang="en-US" sz="1000"/>
          </a:p>
          <a:p>
            <a:pPr>
              <a:buNone/>
            </a:pPr>
            <a:endParaRPr lang="en-US" sz="1000" b="1">
              <a:ea typeface="+mn-lt"/>
              <a:cs typeface="+mn-lt"/>
            </a:endParaRPr>
          </a:p>
          <a:p>
            <a:pPr>
              <a:buNone/>
            </a:pPr>
            <a:r>
              <a:rPr lang="en-US" sz="1000" b="1">
                <a:ea typeface="+mn-lt"/>
                <a:cs typeface="+mn-lt"/>
              </a:rPr>
              <a:t>Comparison with Current Systems:</a:t>
            </a:r>
            <a:endParaRPr lang="en-US" sz="100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1000" b="1">
                <a:ea typeface="+mn-lt"/>
                <a:cs typeface="+mn-lt"/>
              </a:rPr>
              <a:t>Coverage:</a:t>
            </a:r>
            <a:r>
              <a:rPr lang="en-US" sz="1000">
                <a:ea typeface="+mn-lt"/>
                <a:cs typeface="+mn-lt"/>
              </a:rPr>
              <a:t> 10-15 km range vs. 1-2 km for GSM</a:t>
            </a:r>
            <a:endParaRPr lang="en-US" sz="1000"/>
          </a:p>
          <a:p>
            <a:pPr>
              <a:buFont typeface="Arial"/>
              <a:buChar char="•"/>
            </a:pPr>
            <a:r>
              <a:rPr lang="en-US" sz="1000" b="1">
                <a:ea typeface="+mn-lt"/>
                <a:cs typeface="+mn-lt"/>
              </a:rPr>
              <a:t>Battery Life:</a:t>
            </a:r>
            <a:r>
              <a:rPr lang="en-US" sz="1000">
                <a:ea typeface="+mn-lt"/>
                <a:cs typeface="+mn-lt"/>
              </a:rPr>
              <a:t> 7-10 years vs. 2-3 years for GSM-based systems</a:t>
            </a:r>
            <a:endParaRPr lang="en-US" sz="1000"/>
          </a:p>
          <a:p>
            <a:pPr>
              <a:buFont typeface="Arial"/>
              <a:buChar char="•"/>
            </a:pPr>
            <a:r>
              <a:rPr lang="en-US" sz="1000" b="1">
                <a:ea typeface="+mn-lt"/>
                <a:cs typeface="+mn-lt"/>
              </a:rPr>
              <a:t>Infrastructure:</a:t>
            </a:r>
            <a:r>
              <a:rPr lang="en-US" sz="1000">
                <a:ea typeface="+mn-lt"/>
                <a:cs typeface="+mn-lt"/>
              </a:rPr>
              <a:t> One gateway serves thousands of devices</a:t>
            </a:r>
            <a:endParaRPr lang="en-US" sz="1000"/>
          </a:p>
          <a:p>
            <a:pPr>
              <a:buFont typeface="Arial"/>
              <a:buChar char="•"/>
            </a:pPr>
            <a:r>
              <a:rPr lang="en-US" sz="1000" b="1">
                <a:ea typeface="+mn-lt"/>
                <a:cs typeface="+mn-lt"/>
              </a:rPr>
              <a:t>Operating Costs:</a:t>
            </a:r>
            <a:r>
              <a:rPr lang="en-US" sz="1000">
                <a:ea typeface="+mn-lt"/>
                <a:cs typeface="+mn-lt"/>
              </a:rPr>
              <a:t> No ongoing SIM card or cellular data costs</a:t>
            </a:r>
            <a:endParaRPr lang="en-US" sz="1000"/>
          </a:p>
          <a:p>
            <a:pPr>
              <a:buFont typeface="Arial"/>
              <a:buChar char="•"/>
            </a:pPr>
            <a:r>
              <a:rPr lang="en-US" sz="1000" b="1">
                <a:ea typeface="+mn-lt"/>
                <a:cs typeface="+mn-lt"/>
              </a:rPr>
              <a:t>Security:</a:t>
            </a:r>
            <a:r>
              <a:rPr lang="en-US" sz="1000">
                <a:ea typeface="+mn-lt"/>
                <a:cs typeface="+mn-lt"/>
              </a:rPr>
              <a:t> End-to-end encryption with AES-128</a:t>
            </a:r>
            <a:endParaRPr lang="en-US" sz="1000"/>
          </a:p>
          <a:p>
            <a:pPr marL="0" indent="0">
              <a:buNone/>
            </a:pPr>
            <a:endParaRPr lang="en-US" sz="1000">
              <a:ea typeface="Calibri"/>
              <a:cs typeface="Calibri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2B241C5-7E45-AD52-638D-31E8FD2BC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" y="6737460"/>
            <a:ext cx="12192000" cy="123364"/>
            <a:chOff x="1" y="6737460"/>
            <a:chExt cx="12192000" cy="123364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9503B28-6749-2F02-0050-2CC7D03CF6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6034320" y="703141"/>
              <a:ext cx="123362" cy="12192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C3DEE37-9CE7-622C-B750-66998EDC2E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40559" y="4909383"/>
              <a:ext cx="123362" cy="3779520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23194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F6B81-2026-1A46-F99E-8675653C8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4597747" cy="1616203"/>
          </a:xfrm>
        </p:spPr>
        <p:txBody>
          <a:bodyPr anchor="b">
            <a:normAutofit/>
          </a:bodyPr>
          <a:lstStyle/>
          <a:p>
            <a:r>
              <a:rPr lang="en-US" sz="3200">
                <a:ea typeface="+mj-lt"/>
                <a:cs typeface="+mj-lt"/>
              </a:rPr>
              <a:t>Global Evidence for LoRaWAN Effectiveness</a:t>
            </a:r>
            <a:endParaRPr 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2DBE4-E4A0-CA77-96C3-7E4A05BD5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4597746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 sz="1100" b="1" dirty="0">
                <a:latin typeface="Arial"/>
                <a:ea typeface="Calibri" panose="020F0502020204030204"/>
                <a:cs typeface="Arial"/>
              </a:rPr>
              <a:t>Indonesia:</a:t>
            </a:r>
            <a:r>
              <a:rPr lang="en-US" sz="1100" dirty="0">
                <a:latin typeface="Arial"/>
                <a:ea typeface="Calibri" panose="020F0502020204030204"/>
                <a:cs typeface="Arial"/>
              </a:rPr>
              <a:t> Singapore-based </a:t>
            </a:r>
            <a:r>
              <a:rPr lang="en-US" sz="1100" dirty="0" err="1">
                <a:latin typeface="Arial"/>
                <a:ea typeface="Calibri" panose="020F0502020204030204"/>
                <a:cs typeface="Arial"/>
              </a:rPr>
              <a:t>Sindcon</a:t>
            </a:r>
            <a:r>
              <a:rPr lang="en-US" sz="1100" dirty="0">
                <a:latin typeface="Arial"/>
                <a:ea typeface="Calibri" panose="020F0502020204030204"/>
                <a:cs typeface="Arial"/>
              </a:rPr>
              <a:t> is retrofitting 50,000+ smart meters in Jakarta with STM32WLE5 </a:t>
            </a:r>
            <a:r>
              <a:rPr lang="en-US" sz="1100" dirty="0" err="1">
                <a:latin typeface="Arial"/>
                <a:ea typeface="Calibri" panose="020F0502020204030204"/>
                <a:cs typeface="Arial"/>
              </a:rPr>
              <a:t>LoRaWAN</a:t>
            </a:r>
            <a:r>
              <a:rPr lang="en-US" sz="1100" dirty="0">
                <a:latin typeface="Arial"/>
                <a:ea typeface="Calibri" panose="020F0502020204030204"/>
                <a:cs typeface="Arial"/>
              </a:rPr>
              <a:t> microcontrollers, enhancing remote meter reading in diverse environments while providing 10-year battery life. (</a:t>
            </a:r>
            <a:r>
              <a:rPr lang="en-US" sz="1100" dirty="0">
                <a:latin typeface="Arial"/>
                <a:ea typeface="Calibri" panose="020F0502020204030204"/>
                <a:cs typeface="Arial"/>
                <a:hlinkClick r:id="rId2"/>
              </a:rPr>
              <a:t>The GPS Time, 2023</a:t>
            </a:r>
            <a:r>
              <a:rPr lang="en-US" sz="1100" dirty="0">
                <a:latin typeface="Arial"/>
                <a:ea typeface="Calibri" panose="020F0502020204030204"/>
                <a:cs typeface="Arial"/>
              </a:rPr>
              <a:t>)</a:t>
            </a:r>
            <a:endParaRPr lang="en-US" sz="1100" dirty="0"/>
          </a:p>
          <a:p>
            <a:pPr>
              <a:buFont typeface="Arial"/>
              <a:buChar char="•"/>
            </a:pPr>
            <a:r>
              <a:rPr lang="en-US" sz="1100" b="1" dirty="0">
                <a:latin typeface="Arial"/>
                <a:ea typeface="Calibri" panose="020F0502020204030204"/>
                <a:cs typeface="Arial"/>
              </a:rPr>
              <a:t>Singapore:</a:t>
            </a:r>
            <a:r>
              <a:rPr lang="en-US" sz="1100" dirty="0">
                <a:latin typeface="Arial"/>
                <a:ea typeface="Calibri" panose="020F0502020204030204"/>
                <a:cs typeface="Arial"/>
              </a:rPr>
              <a:t> </a:t>
            </a:r>
            <a:r>
              <a:rPr lang="en-US" sz="1100" dirty="0" err="1">
                <a:latin typeface="Arial"/>
                <a:ea typeface="Calibri" panose="020F0502020204030204"/>
                <a:cs typeface="Arial"/>
              </a:rPr>
              <a:t>Sindcon</a:t>
            </a:r>
            <a:r>
              <a:rPr lang="en-US" sz="1100" dirty="0">
                <a:latin typeface="Arial"/>
                <a:ea typeface="Calibri" panose="020F0502020204030204"/>
                <a:cs typeface="Arial"/>
              </a:rPr>
              <a:t> achieved 90%+ data success rates and up to 7-year battery life with their </a:t>
            </a:r>
            <a:r>
              <a:rPr lang="en-US" sz="1100" dirty="0" err="1">
                <a:latin typeface="Arial"/>
                <a:ea typeface="Calibri" panose="020F0502020204030204"/>
                <a:cs typeface="Arial"/>
              </a:rPr>
              <a:t>LoRaWAN</a:t>
            </a:r>
            <a:r>
              <a:rPr lang="en-US" sz="1100" dirty="0">
                <a:latin typeface="Arial"/>
                <a:ea typeface="Calibri" panose="020F0502020204030204"/>
                <a:cs typeface="Arial"/>
              </a:rPr>
              <a:t> smart meters, significantly improving utility management efficiency. (</a:t>
            </a:r>
            <a:r>
              <a:rPr lang="en-US" sz="1100" dirty="0">
                <a:latin typeface="Arial"/>
                <a:ea typeface="Calibri" panose="020F0502020204030204"/>
                <a:cs typeface="Arial"/>
                <a:hlinkClick r:id="rId3"/>
              </a:rPr>
              <a:t>Smart Energy, 2025</a:t>
            </a:r>
            <a:r>
              <a:rPr lang="en-US" sz="1100" dirty="0">
                <a:latin typeface="Arial"/>
                <a:ea typeface="Calibri" panose="020F0502020204030204"/>
                <a:cs typeface="Arial"/>
              </a:rPr>
              <a:t>)</a:t>
            </a:r>
            <a:endParaRPr lang="en-US" sz="1100" dirty="0"/>
          </a:p>
          <a:p>
            <a:pPr>
              <a:buFont typeface="Arial"/>
              <a:buChar char="•"/>
            </a:pPr>
            <a:r>
              <a:rPr lang="en-US" sz="1100" b="1">
                <a:latin typeface="Arial"/>
                <a:ea typeface="Calibri" panose="020F0502020204030204"/>
                <a:cs typeface="Arial"/>
              </a:rPr>
              <a:t>Switzerland:</a:t>
            </a:r>
            <a:r>
              <a:rPr lang="en-US" sz="1100">
                <a:latin typeface="Arial"/>
                <a:ea typeface="Calibri" panose="020F0502020204030204"/>
                <a:cs typeface="Arial"/>
              </a:rPr>
              <a:t> Elvexys and Oiken implemented LoRa-enabled sensors for real-time power grid fault detection, reducing deployment costs by 90% compared to traditional methods. (</a:t>
            </a:r>
            <a:r>
              <a:rPr lang="en-US" sz="1100">
                <a:latin typeface="Arial"/>
                <a:ea typeface="Calibri" panose="020F0502020204030204"/>
                <a:cs typeface="Arial"/>
                <a:hlinkClick r:id="rId4"/>
              </a:rPr>
              <a:t>Semtech, 2021</a:t>
            </a:r>
            <a:r>
              <a:rPr lang="en-US" sz="1100">
                <a:latin typeface="Arial"/>
                <a:ea typeface="Calibri" panose="020F0502020204030204"/>
                <a:cs typeface="Arial"/>
              </a:rPr>
              <a:t>)</a:t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100" b="1">
                <a:latin typeface="Arial"/>
                <a:ea typeface="Calibri" panose="020F0502020204030204"/>
                <a:cs typeface="Arial"/>
              </a:rPr>
              <a:t>France:</a:t>
            </a:r>
            <a:r>
              <a:rPr lang="en-US" sz="1100">
                <a:latin typeface="Arial"/>
                <a:ea typeface="Calibri" panose="020F0502020204030204"/>
                <a:cs typeface="Arial"/>
              </a:rPr>
              <a:t> CAHORS Group's Sentinel® line fault detection solutions use LoRaWAN to monitor power lines, enabling immediate fault identification and preventing costly outages. (</a:t>
            </a:r>
            <a:r>
              <a:rPr lang="en-US" sz="1100">
                <a:latin typeface="Arial"/>
                <a:ea typeface="Calibri" panose="020F0502020204030204"/>
                <a:cs typeface="Arial"/>
                <a:hlinkClick r:id="rId5"/>
              </a:rPr>
              <a:t>Semtech, 2019</a:t>
            </a:r>
            <a:r>
              <a:rPr lang="en-US" sz="1100">
                <a:latin typeface="Arial"/>
                <a:ea typeface="Calibri" panose="020F0502020204030204"/>
                <a:cs typeface="Arial"/>
              </a:rPr>
              <a:t>)</a:t>
            </a:r>
            <a:endParaRPr lang="en-US" sz="1100"/>
          </a:p>
          <a:p>
            <a:pPr marL="0" indent="0">
              <a:buNone/>
            </a:pPr>
            <a:endParaRPr lang="en-US" sz="110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" name="Picture 3" descr="What Is LoRa®?">
            <a:extLst>
              <a:ext uri="{FF2B5EF4-FFF2-40B4-BE49-F238E27FC236}">
                <a16:creationId xmlns:a16="http://schemas.microsoft.com/office/drawing/2014/main" id="{85437973-2A1A-58B2-8D45-0E123A4950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1" y="2001854"/>
            <a:ext cx="5319062" cy="2779209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233815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B1D11-3488-DE32-5B3A-9D6DE60F1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4597747" cy="1616203"/>
          </a:xfrm>
        </p:spPr>
        <p:txBody>
          <a:bodyPr anchor="b">
            <a:normAutofit/>
          </a:bodyPr>
          <a:lstStyle/>
          <a:p>
            <a:r>
              <a:rPr lang="en-US" sz="3200" b="1">
                <a:latin typeface="Helvetica Neue"/>
              </a:rPr>
              <a:t>Proven Evidence of LoRa Success in Bangladesh</a:t>
            </a:r>
            <a:endParaRPr 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674D9-2592-5D40-2917-F2336A505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4597746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1000" b="1" dirty="0">
                <a:latin typeface="Helvetica Neue"/>
                <a:ea typeface="Calibri" panose="020F0502020204030204"/>
                <a:cs typeface="Calibri" panose="020F0502020204030204"/>
              </a:rPr>
              <a:t>Chattogram WASA Pilot:</a:t>
            </a:r>
            <a:endParaRPr lang="en-US" sz="1000" dirty="0"/>
          </a:p>
          <a:p>
            <a:pPr>
              <a:buFont typeface="Arial"/>
              <a:buChar char="•"/>
            </a:pPr>
            <a:r>
              <a:rPr lang="en-US" sz="1000">
                <a:latin typeface="Helvetica Neue"/>
                <a:ea typeface="Calibri" panose="020F0502020204030204"/>
                <a:cs typeface="Calibri" panose="020F0502020204030204"/>
              </a:rPr>
              <a:t>"3,000 Pure Ultrasonic Digital meters (LoRa)" already implemented (</a:t>
            </a:r>
            <a:r>
              <a:rPr lang="en-US" sz="1000">
                <a:latin typeface="Helvetica Neue"/>
                <a:ea typeface="Calibri" panose="020F0502020204030204"/>
                <a:cs typeface="Calibri" panose="020F0502020204030204"/>
                <a:hlinkClick r:id="rId2"/>
              </a:rPr>
              <a:t>The Business Standard, 2022</a:t>
            </a:r>
            <a:r>
              <a:rPr lang="en-US" sz="1000">
                <a:latin typeface="Helvetica Neue"/>
                <a:ea typeface="Calibri" panose="020F0502020204030204"/>
                <a:cs typeface="Calibri" panose="020F0502020204030204"/>
              </a:rPr>
              <a:t>)</a:t>
            </a:r>
            <a:endParaRPr lang="en-US" sz="1000"/>
          </a:p>
          <a:p>
            <a:pPr>
              <a:buFont typeface="Arial"/>
              <a:buChar char="•"/>
            </a:pPr>
            <a:r>
              <a:rPr lang="en-US" sz="1000">
                <a:latin typeface="Helvetica Neue"/>
                <a:ea typeface="Calibri" panose="020F0502020204030204"/>
                <a:cs typeface="Calibri" panose="020F0502020204030204"/>
              </a:rPr>
              <a:t>"With digital meters no one can tamper with it nor can steal. Also all the bills will automatically come to their server." (</a:t>
            </a:r>
            <a:r>
              <a:rPr lang="en-US" sz="1000">
                <a:latin typeface="Helvetica Neue"/>
                <a:ea typeface="Calibri" panose="020F0502020204030204"/>
                <a:cs typeface="Calibri" panose="020F0502020204030204"/>
                <a:hlinkClick r:id="rId3"/>
              </a:rPr>
              <a:t>Md Samsul Alam, Deputy Managing Director, Chittagong Wasa – Independent TV</a:t>
            </a:r>
            <a:r>
              <a:rPr lang="en-US" sz="1000">
                <a:latin typeface="Helvetica Neue"/>
                <a:ea typeface="Calibri" panose="020F0502020204030204"/>
                <a:cs typeface="Calibri" panose="020F0502020204030204"/>
              </a:rPr>
              <a:t>)</a:t>
            </a:r>
            <a:endParaRPr lang="en-US" sz="1000"/>
          </a:p>
          <a:p>
            <a:pPr indent="0">
              <a:buNone/>
            </a:pPr>
            <a:r>
              <a:rPr lang="en-US" sz="1000" b="1">
                <a:latin typeface="Helvetica Neue"/>
                <a:ea typeface="Calibri" panose="020F0502020204030204"/>
                <a:cs typeface="Calibri" panose="020F0502020204030204"/>
              </a:rPr>
              <a:t>Karnaphuli Water Supply Project:</a:t>
            </a:r>
            <a:endParaRPr lang="en-US" sz="1000"/>
          </a:p>
          <a:p>
            <a:pPr>
              <a:buFont typeface="Arial"/>
              <a:buChar char="•"/>
            </a:pPr>
            <a:r>
              <a:rPr lang="en-US" sz="1000">
                <a:latin typeface="Helvetica Neue"/>
                <a:ea typeface="Calibri" panose="020F0502020204030204"/>
                <a:cs typeface="Calibri" panose="020F0502020204030204"/>
              </a:rPr>
              <a:t>Successfully "reduced non-revenue water to 10%" (</a:t>
            </a:r>
            <a:r>
              <a:rPr lang="en-US" sz="1000">
                <a:latin typeface="Helvetica Neue"/>
                <a:ea typeface="Calibri" panose="020F0502020204030204"/>
                <a:cs typeface="Calibri" panose="020F0502020204030204"/>
                <a:hlinkClick r:id="rId4"/>
              </a:rPr>
              <a:t>The Business Standard, 2024</a:t>
            </a:r>
            <a:r>
              <a:rPr lang="en-US" sz="1000">
                <a:latin typeface="Helvetica Neue"/>
                <a:ea typeface="Calibri" panose="020F0502020204030204"/>
                <a:cs typeface="Calibri" panose="020F0502020204030204"/>
              </a:rPr>
              <a:t>)</a:t>
            </a:r>
            <a:endParaRPr lang="en-US" sz="1000"/>
          </a:p>
          <a:p>
            <a:pPr>
              <a:buFont typeface="Arial"/>
              <a:buChar char="•"/>
            </a:pPr>
            <a:r>
              <a:rPr lang="en-US" sz="1000">
                <a:latin typeface="Helvetica Neue"/>
                <a:ea typeface="Calibri" panose="020F0502020204030204"/>
                <a:cs typeface="Calibri" panose="020F0502020204030204"/>
              </a:rPr>
              <a:t>"The Karnaphuli Service Area... with DMA system providing uninterrupted supply to 46,000 connections" (</a:t>
            </a:r>
            <a:r>
              <a:rPr lang="en-US" sz="1000">
                <a:latin typeface="Helvetica Neue"/>
                <a:ea typeface="Calibri" panose="020F0502020204030204"/>
                <a:cs typeface="Calibri" panose="020F0502020204030204"/>
                <a:hlinkClick r:id="rId4"/>
              </a:rPr>
              <a:t>The Business Standard, 2024</a:t>
            </a:r>
            <a:r>
              <a:rPr lang="en-US" sz="1000">
                <a:latin typeface="Helvetica Neue"/>
                <a:ea typeface="Calibri" panose="020F0502020204030204"/>
                <a:cs typeface="Calibri" panose="020F0502020204030204"/>
              </a:rPr>
              <a:t>)</a:t>
            </a:r>
            <a:endParaRPr lang="en-US" sz="1000"/>
          </a:p>
          <a:p>
            <a:pPr indent="0">
              <a:buNone/>
            </a:pPr>
            <a:r>
              <a:rPr lang="en-US" sz="1000" b="1">
                <a:latin typeface="Helvetica Neue"/>
                <a:ea typeface="Calibri" panose="020F0502020204030204"/>
                <a:cs typeface="Calibri" panose="020F0502020204030204"/>
              </a:rPr>
              <a:t>WASA Official Assessment:</a:t>
            </a:r>
            <a:endParaRPr lang="en-US" sz="1000"/>
          </a:p>
          <a:p>
            <a:pPr>
              <a:buFont typeface="Arial"/>
              <a:buChar char="•"/>
            </a:pPr>
            <a:r>
              <a:rPr lang="en-US" sz="1000">
                <a:latin typeface="Helvetica Neue"/>
                <a:ea typeface="Calibri" panose="020F0502020204030204"/>
                <a:cs typeface="Calibri" panose="020F0502020204030204"/>
              </a:rPr>
              <a:t>"Hopefully, if the project is successfully implemented, water wastage will be prevented and Chattogram Wasa's revenue will increase." (</a:t>
            </a:r>
            <a:r>
              <a:rPr lang="en-US" sz="1000">
                <a:latin typeface="Helvetica Neue"/>
                <a:ea typeface="Calibri" panose="020F0502020204030204"/>
                <a:cs typeface="Calibri" panose="020F0502020204030204"/>
                <a:hlinkClick r:id="rId2"/>
              </a:rPr>
              <a:t>Maksud Alam, Chief Engineer, The Business Standard, 2022</a:t>
            </a:r>
            <a:r>
              <a:rPr lang="en-US" sz="1000">
                <a:latin typeface="Helvetica Neue"/>
                <a:ea typeface="Calibri" panose="020F0502020204030204"/>
                <a:cs typeface="Calibri" panose="020F0502020204030204"/>
              </a:rPr>
              <a:t>)</a:t>
            </a:r>
            <a:endParaRPr lang="en-US" sz="1000"/>
          </a:p>
        </p:txBody>
      </p:sp>
      <p:pic>
        <p:nvPicPr>
          <p:cNvPr id="4" name="Picture 3" descr="A map of a river&#10;&#10;AI-generated content may be incorrect.">
            <a:extLst>
              <a:ext uri="{FF2B5EF4-FFF2-40B4-BE49-F238E27FC236}">
                <a16:creationId xmlns:a16="http://schemas.microsoft.com/office/drawing/2014/main" id="{96CAA8A3-C386-9C61-2DC4-A8C371775F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7297" y="867064"/>
            <a:ext cx="3256469" cy="50487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340963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E61B563-A4B2-5783-81AF-A2A053D747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5352229"/>
            <a:ext cx="12192000" cy="1519356"/>
            <a:chOff x="0" y="-29768"/>
            <a:chExt cx="12202174" cy="151935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0633BBC-8C60-7DC4-F0CC-CE32251096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CC98078-F2A2-725C-ED61-320B63B695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289101" y="-1429602"/>
              <a:ext cx="1507122" cy="4319024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1CD4C03-24F0-57A9-530E-8F2ABABDC5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880884" y="-2910652"/>
              <a:ext cx="1519356" cy="7281123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  <a:alpha val="70000"/>
                  </a:schemeClr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B21DFE-475F-3E4B-538F-DD6668AB9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9902"/>
            <a:ext cx="6924026" cy="91397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As Is System</a:t>
            </a:r>
          </a:p>
        </p:txBody>
      </p:sp>
      <p:pic>
        <p:nvPicPr>
          <p:cNvPr id="4" name="Picture 3" descr="A diagram of a diagram of a house&#10;&#10;AI-generated content may be incorrect.">
            <a:extLst>
              <a:ext uri="{FF2B5EF4-FFF2-40B4-BE49-F238E27FC236}">
                <a16:creationId xmlns:a16="http://schemas.microsoft.com/office/drawing/2014/main" id="{E1E24580-7416-5216-7C34-D38E947614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60"/>
          <a:stretch/>
        </p:blipFill>
        <p:spPr>
          <a:xfrm>
            <a:off x="1" y="10"/>
            <a:ext cx="12191998" cy="5352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2229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B4B759-0A96-D1C8-5CD6-056EC0744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959C7A9-8DBB-2FB3-E7B1-1FA118CC3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5352229"/>
            <a:ext cx="12192000" cy="1519356"/>
            <a:chOff x="0" y="-29768"/>
            <a:chExt cx="12202174" cy="151935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36DFBFF-CDBB-0424-C2B8-BB9C5A69ED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077EE5D-0E12-8A08-2810-DC18B29A8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289101" y="-1429602"/>
              <a:ext cx="1507122" cy="4319024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9FC1D1D-23AC-F34C-E2BD-DEE4AEEB30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880884" y="-2910652"/>
              <a:ext cx="1519356" cy="7281123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  <a:alpha val="70000"/>
                  </a:schemeClr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62088A7-5F9C-57ED-417E-EA2F817D5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09902"/>
            <a:ext cx="6924026" cy="91397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To Be</a:t>
            </a:r>
            <a:endParaRPr lang="en-US" dirty="0"/>
          </a:p>
        </p:txBody>
      </p:sp>
      <p:pic>
        <p:nvPicPr>
          <p:cNvPr id="3" name="Picture 2" descr="A diagram of a cloud computing system&#10;&#10;AI-generated content may be incorrect.">
            <a:extLst>
              <a:ext uri="{FF2B5EF4-FFF2-40B4-BE49-F238E27FC236}">
                <a16:creationId xmlns:a16="http://schemas.microsoft.com/office/drawing/2014/main" id="{306E4F18-4049-18EC-1081-72AE9ED0D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051" y="-2493"/>
            <a:ext cx="10505897" cy="536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1567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2E9BC-37E3-C535-777F-C3D4D31B8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5219307" cy="1616203"/>
          </a:xfrm>
        </p:spPr>
        <p:txBody>
          <a:bodyPr anchor="b">
            <a:normAutofit/>
          </a:bodyPr>
          <a:lstStyle/>
          <a:p>
            <a:r>
              <a:rPr lang="en-US" sz="3200" b="1">
                <a:latin typeface="Helvetica Neue"/>
              </a:rPr>
              <a:t>Market Size &amp; Opportunity</a:t>
            </a:r>
            <a:endParaRPr 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9CCA5-2BF6-91BF-E062-2AD3CCAC2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2" y="2533476"/>
            <a:ext cx="5219307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1000" b="1">
                <a:latin typeface="Helvetica Neue"/>
                <a:ea typeface="Calibri" panose="020F0502020204030204"/>
                <a:cs typeface="Calibri" panose="020F0502020204030204"/>
              </a:rPr>
              <a:t>Target Market:</a:t>
            </a:r>
            <a:endParaRPr lang="en-US" sz="1000"/>
          </a:p>
          <a:p>
            <a:pPr>
              <a:buFont typeface="Arial"/>
              <a:buChar char="•"/>
            </a:pPr>
            <a:r>
              <a:rPr lang="en-US" sz="1000">
                <a:latin typeface="Helvetica Neue"/>
                <a:ea typeface="Calibri" panose="020F0502020204030204"/>
                <a:cs typeface="Calibri" panose="020F0502020204030204"/>
              </a:rPr>
              <a:t>40M+ households across Bangladesh</a:t>
            </a:r>
            <a:endParaRPr lang="en-US" sz="1000"/>
          </a:p>
          <a:p>
            <a:pPr>
              <a:buFont typeface="Arial"/>
              <a:buChar char="•"/>
            </a:pPr>
            <a:r>
              <a:rPr lang="en-US" sz="1000">
                <a:latin typeface="Helvetica Neue"/>
                <a:ea typeface="Calibri" panose="020F0502020204030204"/>
                <a:cs typeface="Calibri" panose="020F0502020204030204"/>
              </a:rPr>
              <a:t>500K+ commercial and industrial entities</a:t>
            </a:r>
            <a:endParaRPr lang="en-US" sz="1000"/>
          </a:p>
          <a:p>
            <a:pPr indent="0">
              <a:buNone/>
            </a:pPr>
            <a:r>
              <a:rPr lang="en-US" sz="1000" b="1">
                <a:latin typeface="Helvetica Neue"/>
                <a:ea typeface="Calibri" panose="020F0502020204030204"/>
                <a:cs typeface="Calibri" panose="020F0502020204030204"/>
              </a:rPr>
              <a:t>Addressing Critical Infrastructure:</a:t>
            </a:r>
            <a:endParaRPr lang="en-US" sz="1000"/>
          </a:p>
          <a:p>
            <a:pPr>
              <a:buFont typeface="Arial"/>
              <a:buChar char="•"/>
            </a:pPr>
            <a:r>
              <a:rPr lang="en-US" sz="1000">
                <a:latin typeface="Helvetica Neue"/>
                <a:ea typeface="Calibri" panose="020F0502020204030204"/>
                <a:cs typeface="Calibri" panose="020F0502020204030204"/>
              </a:rPr>
              <a:t>Water supply networks serving major urban centers</a:t>
            </a:r>
            <a:endParaRPr lang="en-US" sz="1000"/>
          </a:p>
          <a:p>
            <a:pPr>
              <a:buFont typeface="Arial"/>
              <a:buChar char="•"/>
            </a:pPr>
            <a:r>
              <a:rPr lang="en-US" sz="1000">
                <a:latin typeface="Helvetica Neue"/>
                <a:ea typeface="Calibri" panose="020F0502020204030204"/>
                <a:cs typeface="Calibri" panose="020F0502020204030204"/>
              </a:rPr>
              <a:t>Electricity distribution covering 3.5 crore connections</a:t>
            </a:r>
            <a:endParaRPr lang="en-US" sz="1000"/>
          </a:p>
          <a:p>
            <a:pPr>
              <a:buFont typeface="Arial"/>
              <a:buChar char="•"/>
            </a:pPr>
            <a:r>
              <a:rPr lang="en-US" sz="1000">
                <a:latin typeface="Helvetica Neue"/>
                <a:ea typeface="Calibri" panose="020F0502020204030204"/>
                <a:cs typeface="Calibri" panose="020F0502020204030204"/>
              </a:rPr>
              <a:t>Gas utility systems with documented 7.67% losses</a:t>
            </a:r>
            <a:endParaRPr lang="en-US" sz="1000"/>
          </a:p>
          <a:p>
            <a:pPr indent="0">
              <a:buNone/>
            </a:pPr>
            <a:r>
              <a:rPr lang="en-US" sz="1000" b="1">
                <a:latin typeface="Helvetica Neue"/>
                <a:ea typeface="Calibri" panose="020F0502020204030204"/>
                <a:cs typeface="Calibri" panose="020F0502020204030204"/>
              </a:rPr>
              <a:t>Corruption Elimination:</a:t>
            </a:r>
            <a:endParaRPr lang="en-US" sz="1000"/>
          </a:p>
          <a:p>
            <a:pPr>
              <a:buFont typeface="Arial"/>
              <a:buChar char="•"/>
            </a:pPr>
            <a:r>
              <a:rPr lang="en-US" sz="1000">
                <a:latin typeface="Helvetica Neue"/>
                <a:ea typeface="Calibri" panose="020F0502020204030204"/>
                <a:cs typeface="Calibri" panose="020F0502020204030204"/>
              </a:rPr>
              <a:t>Evidence that "meter inspectors in collusion with WASA officials show less reading and provide illegal connections in exchange for illegal financial benefits" (</a:t>
            </a:r>
            <a:r>
              <a:rPr lang="en-US" sz="1000">
                <a:latin typeface="Helvetica Neue"/>
                <a:ea typeface="Calibri" panose="020F0502020204030204"/>
                <a:cs typeface="Calibri" panose="020F0502020204030204"/>
                <a:hlinkClick r:id="rId2"/>
              </a:rPr>
              <a:t>The Business Standard, 2022</a:t>
            </a:r>
            <a:r>
              <a:rPr lang="en-US" sz="1000">
                <a:latin typeface="Helvetica Neue"/>
                <a:ea typeface="Calibri" panose="020F0502020204030204"/>
                <a:cs typeface="Calibri" panose="020F0502020204030204"/>
              </a:rPr>
              <a:t>)</a:t>
            </a:r>
            <a:endParaRPr lang="en-US" sz="1000"/>
          </a:p>
          <a:p>
            <a:pPr>
              <a:buFont typeface="Arial"/>
              <a:buChar char="•"/>
            </a:pPr>
            <a:r>
              <a:rPr lang="en-US" sz="1000">
                <a:latin typeface="Helvetica Neue"/>
                <a:ea typeface="Calibri" panose="020F0502020204030204"/>
                <a:cs typeface="Calibri" panose="020F0502020204030204"/>
              </a:rPr>
              <a:t>CLIX removes human intervention points that enable corruption</a:t>
            </a:r>
            <a:endParaRPr lang="en-US" sz="1000"/>
          </a:p>
          <a:p>
            <a:pPr marL="0" indent="0">
              <a:buNone/>
            </a:pPr>
            <a:br>
              <a:rPr lang="en-US" sz="1000"/>
            </a:br>
            <a:endParaRPr lang="en-US" sz="1000"/>
          </a:p>
        </p:txBody>
      </p:sp>
      <p:pic>
        <p:nvPicPr>
          <p:cNvPr id="4" name="Picture 3" descr="a person standing on a street corner">
            <a:extLst>
              <a:ext uri="{FF2B5EF4-FFF2-40B4-BE49-F238E27FC236}">
                <a16:creationId xmlns:a16="http://schemas.microsoft.com/office/drawing/2014/main" id="{907A5585-C272-3839-7804-0B5C8F5DF5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724" r="1" b="1"/>
          <a:stretch/>
        </p:blipFill>
        <p:spPr>
          <a:xfrm>
            <a:off x="7015163" y="877413"/>
            <a:ext cx="4300543" cy="5043096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442598CC-934A-7BCD-C691-B2FE74CED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015162" y="5858828"/>
            <a:ext cx="4300544" cy="123363"/>
            <a:chOff x="7015162" y="5858828"/>
            <a:chExt cx="4300544" cy="1233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ACD0983-348C-E24F-6839-EA2014B9D1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03753" y="3770237"/>
              <a:ext cx="123362" cy="4300544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1174876-930F-4902-5A02-2742055662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09789" y="4876274"/>
              <a:ext cx="123362" cy="2088471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729196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CAC5C-286D-1D36-B17C-5E51078AE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3658" y="741391"/>
            <a:ext cx="5219307" cy="1616203"/>
          </a:xfrm>
        </p:spPr>
        <p:txBody>
          <a:bodyPr anchor="b">
            <a:normAutofit/>
          </a:bodyPr>
          <a:lstStyle/>
          <a:p>
            <a:r>
              <a:rPr lang="en-US" sz="3200" b="1">
                <a:ea typeface="+mj-lt"/>
                <a:cs typeface="+mj-lt"/>
              </a:rPr>
              <a:t>Survey Analytics</a:t>
            </a:r>
            <a:endParaRPr 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0CE04-7BA3-424E-CAE9-0D7899041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3657" y="2533475"/>
            <a:ext cx="5219307" cy="344822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000" i="1">
                <a:latin typeface="Arial"/>
                <a:ea typeface="Calibri" panose="020F0502020204030204"/>
                <a:cs typeface="Arial"/>
              </a:rPr>
              <a:t>We collected </a:t>
            </a:r>
            <a:r>
              <a:rPr lang="en-US" sz="2000" b="1" i="1">
                <a:latin typeface="Arial"/>
                <a:ea typeface="Calibri" panose="020F0502020204030204"/>
                <a:cs typeface="Arial"/>
              </a:rPr>
              <a:t>79</a:t>
            </a:r>
            <a:r>
              <a:rPr lang="en-US" sz="2000" i="1">
                <a:latin typeface="Arial"/>
                <a:ea typeface="Calibri" panose="020F0502020204030204"/>
                <a:cs typeface="Arial"/>
              </a:rPr>
              <a:t> surveys </a:t>
            </a:r>
            <a:r>
              <a:rPr lang="en-US" sz="2000" b="1" i="1">
                <a:latin typeface="Arial"/>
                <a:ea typeface="Calibri" panose="020F0502020204030204"/>
                <a:cs typeface="Arial"/>
              </a:rPr>
              <a:t>(26 online, 53 offline)</a:t>
            </a:r>
            <a:r>
              <a:rPr lang="en-US" sz="2000" i="1">
                <a:latin typeface="Arial"/>
                <a:ea typeface="Calibri" panose="020F0502020204030204"/>
                <a:cs typeface="Arial"/>
              </a:rPr>
              <a:t>. CLIX received </a:t>
            </a:r>
            <a:r>
              <a:rPr lang="en-US" sz="2000" b="1" i="1">
                <a:latin typeface="Arial"/>
                <a:ea typeface="Calibri" panose="020F0502020204030204"/>
                <a:cs typeface="Arial"/>
              </a:rPr>
              <a:t>"Highly Helpful" </a:t>
            </a:r>
            <a:r>
              <a:rPr lang="en-US" sz="2000" i="1">
                <a:latin typeface="Arial"/>
                <a:ea typeface="Calibri" panose="020F0502020204030204"/>
                <a:cs typeface="Arial"/>
              </a:rPr>
              <a:t>reviews from </a:t>
            </a:r>
            <a:r>
              <a:rPr lang="en-US" sz="2000" b="1" i="1">
                <a:latin typeface="Arial"/>
                <a:ea typeface="Calibri" panose="020F0502020204030204"/>
                <a:cs typeface="Arial"/>
              </a:rPr>
              <a:t>72.07% </a:t>
            </a:r>
            <a:r>
              <a:rPr lang="en-US" sz="2000" i="1">
                <a:latin typeface="Arial"/>
                <a:ea typeface="Calibri" panose="020F0502020204030204"/>
                <a:cs typeface="Arial"/>
              </a:rPr>
              <a:t>of respondents, </a:t>
            </a:r>
            <a:r>
              <a:rPr lang="en-US" sz="2000" b="1" i="1">
                <a:latin typeface="Arial"/>
                <a:ea typeface="Calibri" panose="020F0502020204030204"/>
                <a:cs typeface="Arial"/>
              </a:rPr>
              <a:t>"Helpful" </a:t>
            </a:r>
            <a:r>
              <a:rPr lang="en-US" sz="2000" i="1">
                <a:latin typeface="Arial"/>
                <a:ea typeface="Calibri" panose="020F0502020204030204"/>
                <a:cs typeface="Arial"/>
              </a:rPr>
              <a:t>from </a:t>
            </a:r>
            <a:r>
              <a:rPr lang="en-US" sz="2000" b="1" i="1">
                <a:latin typeface="Arial"/>
                <a:ea typeface="Calibri" panose="020F0502020204030204"/>
                <a:cs typeface="Arial"/>
              </a:rPr>
              <a:t>23.00%</a:t>
            </a:r>
            <a:r>
              <a:rPr lang="en-US" sz="2000" i="1">
                <a:latin typeface="Arial"/>
                <a:ea typeface="Calibri" panose="020F0502020204030204"/>
                <a:cs typeface="Arial"/>
              </a:rPr>
              <a:t>, </a:t>
            </a:r>
            <a:r>
              <a:rPr lang="en-US" sz="2000" b="1" i="1">
                <a:latin typeface="Arial"/>
                <a:ea typeface="Calibri" panose="020F0502020204030204"/>
                <a:cs typeface="Arial"/>
              </a:rPr>
              <a:t>"Neutral"</a:t>
            </a:r>
            <a:r>
              <a:rPr lang="en-US" sz="2000" i="1">
                <a:latin typeface="Arial"/>
                <a:ea typeface="Calibri" panose="020F0502020204030204"/>
                <a:cs typeface="Arial"/>
              </a:rPr>
              <a:t> from </a:t>
            </a:r>
            <a:r>
              <a:rPr lang="en-US" sz="2000" b="1" i="1">
                <a:latin typeface="Arial"/>
                <a:ea typeface="Calibri" panose="020F0502020204030204"/>
                <a:cs typeface="Arial"/>
              </a:rPr>
              <a:t>4.65%</a:t>
            </a:r>
            <a:r>
              <a:rPr lang="en-US" sz="2000" i="1">
                <a:latin typeface="Arial"/>
                <a:ea typeface="Calibri" panose="020F0502020204030204"/>
                <a:cs typeface="Arial"/>
              </a:rPr>
              <a:t>, </a:t>
            </a:r>
            <a:r>
              <a:rPr lang="en-US" sz="2000" b="1" i="1">
                <a:latin typeface="Arial"/>
                <a:ea typeface="Calibri" panose="020F0502020204030204"/>
                <a:cs typeface="Arial"/>
              </a:rPr>
              <a:t>"Not Helpful" </a:t>
            </a:r>
            <a:r>
              <a:rPr lang="en-US" sz="2000" i="1">
                <a:latin typeface="Arial"/>
                <a:ea typeface="Calibri" panose="020F0502020204030204"/>
                <a:cs typeface="Arial"/>
              </a:rPr>
              <a:t>from </a:t>
            </a:r>
            <a:r>
              <a:rPr lang="en-US" sz="2000" b="1" i="1">
                <a:latin typeface="Arial"/>
                <a:ea typeface="Calibri" panose="020F0502020204030204"/>
                <a:cs typeface="Arial"/>
              </a:rPr>
              <a:t>0.17%</a:t>
            </a:r>
            <a:r>
              <a:rPr lang="en-US" sz="2000" i="1">
                <a:latin typeface="Arial"/>
                <a:ea typeface="Calibri" panose="020F0502020204030204"/>
                <a:cs typeface="Arial"/>
              </a:rPr>
              <a:t>, and </a:t>
            </a:r>
            <a:r>
              <a:rPr lang="en-US" sz="2000" b="1" i="1">
                <a:latin typeface="Arial"/>
                <a:ea typeface="Calibri" panose="020F0502020204030204"/>
                <a:cs typeface="Arial"/>
              </a:rPr>
              <a:t>"Not Helpful at all"  0.09% </a:t>
            </a:r>
            <a:r>
              <a:rPr lang="en-US" sz="2000" i="1">
                <a:latin typeface="Arial"/>
                <a:ea typeface="Calibri" panose="020F0502020204030204"/>
                <a:cs typeface="Arial"/>
              </a:rPr>
              <a:t>of respondents.</a:t>
            </a:r>
            <a:endParaRPr lang="en-US" sz="2000"/>
          </a:p>
          <a:p>
            <a:pPr marL="0" indent="0">
              <a:buNone/>
            </a:pPr>
            <a:br>
              <a:rPr lang="en-US" sz="2000"/>
            </a:br>
            <a:endParaRPr lang="en-US" sz="200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6C73AF9-0D33-5C66-5D79-0D0129904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96FD6F-5EE9-36C7-C200-3111EF6D0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2A39BB2-02C1-8A8B-8021-68446E0474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B4A7E13-B7CF-B9CB-287F-B862A683AD8B}"/>
              </a:ext>
            </a:extLst>
          </p:cNvPr>
          <p:cNvGraphicFramePr>
            <a:graphicFrameLocks noGrp="1"/>
          </p:cNvGraphicFramePr>
          <p:nvPr/>
        </p:nvGraphicFramePr>
        <p:xfrm>
          <a:off x="787114" y="1284910"/>
          <a:ext cx="4408733" cy="41800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8537">
                  <a:extLst>
                    <a:ext uri="{9D8B030D-6E8A-4147-A177-3AD203B41FA5}">
                      <a16:colId xmlns:a16="http://schemas.microsoft.com/office/drawing/2014/main" val="1199391892"/>
                    </a:ext>
                  </a:extLst>
                </a:gridCol>
                <a:gridCol w="744199">
                  <a:extLst>
                    <a:ext uri="{9D8B030D-6E8A-4147-A177-3AD203B41FA5}">
                      <a16:colId xmlns:a16="http://schemas.microsoft.com/office/drawing/2014/main" val="2969417071"/>
                    </a:ext>
                  </a:extLst>
                </a:gridCol>
                <a:gridCol w="425352">
                  <a:extLst>
                    <a:ext uri="{9D8B030D-6E8A-4147-A177-3AD203B41FA5}">
                      <a16:colId xmlns:a16="http://schemas.microsoft.com/office/drawing/2014/main" val="3925592863"/>
                    </a:ext>
                  </a:extLst>
                </a:gridCol>
                <a:gridCol w="429780">
                  <a:extLst>
                    <a:ext uri="{9D8B030D-6E8A-4147-A177-3AD203B41FA5}">
                      <a16:colId xmlns:a16="http://schemas.microsoft.com/office/drawing/2014/main" val="2010512790"/>
                    </a:ext>
                  </a:extLst>
                </a:gridCol>
                <a:gridCol w="598061">
                  <a:extLst>
                    <a:ext uri="{9D8B030D-6E8A-4147-A177-3AD203B41FA5}">
                      <a16:colId xmlns:a16="http://schemas.microsoft.com/office/drawing/2014/main" val="3004120069"/>
                    </a:ext>
                  </a:extLst>
                </a:gridCol>
                <a:gridCol w="822804">
                  <a:extLst>
                    <a:ext uri="{9D8B030D-6E8A-4147-A177-3AD203B41FA5}">
                      <a16:colId xmlns:a16="http://schemas.microsoft.com/office/drawing/2014/main" val="1256153329"/>
                    </a:ext>
                  </a:extLst>
                </a:gridCol>
              </a:tblGrid>
              <a:tr h="158361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 b="1">
                          <a:effectLst/>
                          <a:latin typeface="Arial" panose="020B0604020202020204" pitchFamily="34" charset="0"/>
                        </a:rPr>
                        <a:t>Feature4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 b="1">
                          <a:effectLst/>
                          <a:latin typeface="Arial" panose="020B0604020202020204" pitchFamily="34" charset="0"/>
                        </a:rPr>
                        <a:t>Highly Helpful 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 b="1">
                          <a:effectLst/>
                          <a:latin typeface="Arial" panose="020B0604020202020204" pitchFamily="34" charset="0"/>
                        </a:rPr>
                        <a:t>Helpful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 b="1">
                          <a:effectLst/>
                          <a:latin typeface="Arial" panose="020B0604020202020204" pitchFamily="34" charset="0"/>
                        </a:rPr>
                        <a:t>Neutral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 b="1">
                          <a:effectLst/>
                          <a:latin typeface="Arial" panose="020B0604020202020204" pitchFamily="34" charset="0"/>
                        </a:rPr>
                        <a:t>Not Helpful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 b="1">
                          <a:effectLst/>
                          <a:latin typeface="Arial" panose="020B0604020202020204" pitchFamily="34" charset="0"/>
                        </a:rPr>
                        <a:t>Not Helpful at all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750300"/>
                  </a:ext>
                </a:extLst>
              </a:tr>
              <a:tr h="26464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 b="1">
                          <a:effectLst/>
                          <a:latin typeface="Arial" panose="020B0604020202020204" pitchFamily="34" charset="0"/>
                        </a:rPr>
                        <a:t>Emergency gas leak alert at night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88.60%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1E49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10.10%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EF2C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0.00%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0.00%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1.30%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7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157386"/>
                  </a:ext>
                </a:extLst>
              </a:tr>
              <a:tr h="26464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 b="1">
                          <a:effectLst/>
                          <a:latin typeface="Arial" panose="020B0604020202020204" pitchFamily="34" charset="0"/>
                        </a:rPr>
                        <a:t>Real-time electricity bill tracking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67.10%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1E49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29.10%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EF2C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3.80%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0.00%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0.00%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7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6562385"/>
                  </a:ext>
                </a:extLst>
              </a:tr>
              <a:tr h="26464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 b="1">
                          <a:effectLst/>
                          <a:latin typeface="Arial" panose="020B0604020202020204" pitchFamily="34" charset="0"/>
                        </a:rPr>
                        <a:t>Water leak alert when away from home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70.90%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1E49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27.80%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EF2C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1.30%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0.00%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0.00%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7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7076418"/>
                  </a:ext>
                </a:extLst>
              </a:tr>
              <a:tr h="26464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 b="1">
                          <a:effectLst/>
                          <a:latin typeface="Arial" panose="020B0604020202020204" pitchFamily="34" charset="0"/>
                        </a:rPr>
                        <a:t>One-click bill payment via mobile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74.70%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1E49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24.10%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EF2C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1.30%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0.00%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0.00%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7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782127"/>
                  </a:ext>
                </a:extLst>
              </a:tr>
              <a:tr h="26464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 b="1">
                          <a:effectLst/>
                          <a:latin typeface="Arial" panose="020B0604020202020204" pitchFamily="34" charset="0"/>
                        </a:rPr>
                        <a:t>Preventing payment for others' illegal connections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74.70%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1E49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24.10%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EF2C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1.30%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0.00%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0.00%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7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7112630"/>
                  </a:ext>
                </a:extLst>
              </a:tr>
              <a:tr h="26464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 b="1">
                          <a:effectLst/>
                          <a:latin typeface="Arial" panose="020B0604020202020204" pitchFamily="34" charset="0"/>
                        </a:rPr>
                        <a:t>Load-shedding timing notifications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75.90%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1E49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20.30%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EF2C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3.80%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0.00%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0.00%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7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139448"/>
                  </a:ext>
                </a:extLst>
              </a:tr>
              <a:tr h="26464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 b="1">
                          <a:effectLst/>
                          <a:latin typeface="Arial" panose="020B0604020202020204" pitchFamily="34" charset="0"/>
                        </a:rPr>
                        <a:t>Integrated system for electricity, gas, water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65.80%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1E49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27.80%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EF2C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6.30%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0.00%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0.00%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7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115502"/>
                  </a:ext>
                </a:extLst>
              </a:tr>
              <a:tr h="26464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 b="1">
                          <a:effectLst/>
                          <a:latin typeface="Arial" panose="020B0604020202020204" pitchFamily="34" charset="0"/>
                        </a:rPr>
                        <a:t>Tech &amp; job opportunities from smart systems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72.20%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1E49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24.10%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EF2C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3.80%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0.00%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0.00%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7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1750585"/>
                  </a:ext>
                </a:extLst>
              </a:tr>
              <a:tr h="26464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 b="1">
                          <a:effectLst/>
                          <a:latin typeface="Arial" panose="020B0604020202020204" pitchFamily="34" charset="0"/>
                        </a:rPr>
                        <a:t>Accurate billing with usage record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75.90%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1E49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17.10%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EF2C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6.30%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0.00%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0.00%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7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682918"/>
                  </a:ext>
                </a:extLst>
              </a:tr>
              <a:tr h="158361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 b="1">
                          <a:effectLst/>
                          <a:latin typeface="Arial" panose="020B0604020202020204" pitchFamily="34" charset="0"/>
                        </a:rPr>
                        <a:t>Disaster-time live utility map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70.90%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1E49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25.3%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EF2C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3.80%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0.00%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0.00%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7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7421681"/>
                  </a:ext>
                </a:extLst>
              </a:tr>
              <a:tr h="26464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 b="1">
                          <a:effectLst/>
                          <a:latin typeface="Arial" panose="020B0604020202020204" pitchFamily="34" charset="0"/>
                        </a:rPr>
                        <a:t>Usage-based saving recommendations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69.60%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1E49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24.10%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EF2C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5.10%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1.30%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0.00%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7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6479617"/>
                  </a:ext>
                </a:extLst>
              </a:tr>
              <a:tr h="26464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 b="1">
                          <a:effectLst/>
                          <a:latin typeface="Arial" panose="020B0604020202020204" pitchFamily="34" charset="0"/>
                        </a:rPr>
                        <a:t>Adoption of global smart utility models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73.40%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1E49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13.90%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EF2C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12.7%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0.00%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0.00%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7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6204589"/>
                  </a:ext>
                </a:extLst>
              </a:tr>
              <a:tr h="26464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 b="1">
                          <a:effectLst/>
                          <a:latin typeface="Arial" panose="020B0604020202020204" pitchFamily="34" charset="0"/>
                        </a:rPr>
                        <a:t>Prior notification of utility personnel arrival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65.80%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1E49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22.80%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EF2C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10.10%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1.30%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0.00%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7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160799"/>
                  </a:ext>
                </a:extLst>
              </a:tr>
              <a:tr h="26464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 b="1">
                          <a:effectLst/>
                          <a:latin typeface="Arial" panose="020B0604020202020204" pitchFamily="34" charset="0"/>
                        </a:rPr>
                        <a:t>Knowing which appliances use the most electricity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67.10%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1E49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31.60%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EF2C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1.30%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0.00%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0.00%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7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712777"/>
                  </a:ext>
                </a:extLst>
              </a:tr>
              <a:tr h="264644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 b="1">
                          <a:effectLst/>
                          <a:latin typeface="Arial" panose="020B0604020202020204" pitchFamily="34" charset="0"/>
                        </a:rPr>
                        <a:t>Leaving reliable systems for future generations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68.40%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1E49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22.80%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EF2C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8.90%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0.00%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>
                          <a:effectLst/>
                          <a:latin typeface="Arial" panose="020B0604020202020204" pitchFamily="34" charset="0"/>
                        </a:rPr>
                        <a:t>0.00%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7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8177826"/>
                  </a:ext>
                </a:extLst>
              </a:tr>
              <a:tr h="158361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 b="1">
                          <a:effectLst/>
                          <a:latin typeface="Arial" panose="020B0604020202020204" pitchFamily="34" charset="0"/>
                        </a:rPr>
                        <a:t>Average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 b="1">
                          <a:effectLst/>
                          <a:latin typeface="Arial" panose="020B0604020202020204" pitchFamily="34" charset="0"/>
                        </a:rPr>
                        <a:t>72.07%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1E49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 b="1">
                          <a:effectLst/>
                          <a:latin typeface="Arial" panose="020B0604020202020204" pitchFamily="34" charset="0"/>
                        </a:rPr>
                        <a:t>23.00%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EF2C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 b="1">
                          <a:effectLst/>
                          <a:latin typeface="Arial" panose="020B0604020202020204" pitchFamily="34" charset="0"/>
                        </a:rPr>
                        <a:t>4.65%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 b="1">
                          <a:effectLst/>
                          <a:latin typeface="Arial" panose="020B0604020202020204" pitchFamily="34" charset="0"/>
                        </a:rPr>
                        <a:t>0.17%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700" b="1">
                          <a:effectLst/>
                          <a:latin typeface="Arial" panose="020B0604020202020204" pitchFamily="34" charset="0"/>
                        </a:rPr>
                        <a:t>0.09%</a:t>
                      </a:r>
                      <a:endParaRPr lang="en-US" sz="1800">
                        <a:effectLst/>
                      </a:endParaRPr>
                    </a:p>
                  </a:txBody>
                  <a:tcPr marL="26571" marR="26571" marT="13285" marB="13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7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806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14028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02906-6FA3-74E8-BA93-F747D9856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5933181" cy="1616203"/>
          </a:xfrm>
        </p:spPr>
        <p:txBody>
          <a:bodyPr anchor="b">
            <a:normAutofit/>
          </a:bodyPr>
          <a:lstStyle/>
          <a:p>
            <a:r>
              <a:rPr lang="en-US" sz="3200" b="1">
                <a:ea typeface="+mj-lt"/>
                <a:cs typeface="+mj-lt"/>
              </a:rPr>
              <a:t>Survey Analytics</a:t>
            </a:r>
            <a:endParaRPr lang="en-US" sz="3200">
              <a:ea typeface="Calibri Light" panose="020F0302020204030204"/>
              <a:cs typeface="Calibri Light" panose="020F0302020204030204"/>
            </a:endParaRPr>
          </a:p>
        </p:txBody>
      </p:sp>
      <p:pic>
        <p:nvPicPr>
          <p:cNvPr id="6" name="Picture 5" descr="A colorful circle with text&#10;&#10;AI-generated content may be incorrect.">
            <a:extLst>
              <a:ext uri="{FF2B5EF4-FFF2-40B4-BE49-F238E27FC236}">
                <a16:creationId xmlns:a16="http://schemas.microsoft.com/office/drawing/2014/main" id="{048BEBEE-3BCF-6AF4-DC1D-1F5B22209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5206" y="876300"/>
            <a:ext cx="2523896" cy="155850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89198-2797-EB75-61A8-FA609D94A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2" y="2533476"/>
            <a:ext cx="5933182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000" b="1">
                <a:latin typeface="Arial"/>
                <a:ea typeface="Calibri" panose="020F0502020204030204"/>
                <a:cs typeface="Arial"/>
              </a:rPr>
              <a:t>Occupation: </a:t>
            </a:r>
            <a:r>
              <a:rPr lang="en-US" sz="2000">
                <a:latin typeface="Arial"/>
                <a:ea typeface="Calibri" panose="020F0502020204030204"/>
                <a:cs typeface="Arial"/>
              </a:rPr>
              <a:t>44.3% Student, 21.5% Businessman, 19.0% Service holder, 7.6% Householder, 3.8% Teacher &amp; 3.8% Other</a:t>
            </a:r>
            <a:endParaRPr lang="en-US" sz="2000"/>
          </a:p>
          <a:p>
            <a:pPr>
              <a:buNone/>
            </a:pPr>
            <a:r>
              <a:rPr lang="en-US" sz="2000" b="1">
                <a:latin typeface="Arial"/>
                <a:ea typeface="Calibri" panose="020F0502020204030204"/>
                <a:cs typeface="Arial"/>
              </a:rPr>
              <a:t>Area: </a:t>
            </a:r>
            <a:r>
              <a:rPr lang="en-US" sz="2000">
                <a:latin typeface="Arial"/>
                <a:ea typeface="Calibri" panose="020F0502020204030204"/>
                <a:cs typeface="Arial"/>
              </a:rPr>
              <a:t>Dhaka = 54.4% &amp; Outside Dhaka = 45.6%</a:t>
            </a:r>
            <a:endParaRPr lang="en-US" sz="2000"/>
          </a:p>
          <a:p>
            <a:pPr>
              <a:buNone/>
            </a:pPr>
            <a:r>
              <a:rPr lang="en-US" sz="2000" b="1">
                <a:latin typeface="Arial"/>
                <a:ea typeface="Calibri" panose="020F0502020204030204"/>
                <a:cs typeface="Arial"/>
              </a:rPr>
              <a:t>Age: </a:t>
            </a:r>
            <a:r>
              <a:rPr lang="en-US" sz="2000">
                <a:latin typeface="Arial"/>
                <a:ea typeface="Calibri" panose="020F0502020204030204"/>
                <a:cs typeface="Arial"/>
              </a:rPr>
              <a:t>18-25: 35.4% (28 people), 26-35: 25.3% (20 people), 36-45: 19.0% (15 people), 46-55: 12.7% (10 people), 56-65: 6.3% (5 people) &amp; 66+: 1.3% (1 person)</a:t>
            </a:r>
            <a:endParaRPr lang="en-US" sz="2000"/>
          </a:p>
          <a:p>
            <a:pPr marL="0" indent="0">
              <a:buNone/>
            </a:pPr>
            <a:br>
              <a:rPr lang="en-US" sz="2000"/>
            </a:br>
            <a:endParaRPr lang="en-US" sz="2000"/>
          </a:p>
        </p:txBody>
      </p:sp>
      <p:pic>
        <p:nvPicPr>
          <p:cNvPr id="4" name="Picture 3" descr="A colorful pie chart with text overlay&#10;&#10;AI-generated content may be incorrect.">
            <a:extLst>
              <a:ext uri="{FF2B5EF4-FFF2-40B4-BE49-F238E27FC236}">
                <a16:creationId xmlns:a16="http://schemas.microsoft.com/office/drawing/2014/main" id="{B2481532-5D1C-454A-A365-99B67C4E99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446" y="2632164"/>
            <a:ext cx="2563417" cy="1582910"/>
          </a:xfrm>
          <a:prstGeom prst="rect">
            <a:avLst/>
          </a:prstGeom>
        </p:spPr>
      </p:pic>
      <p:pic>
        <p:nvPicPr>
          <p:cNvPr id="5" name="Picture 4" descr="A graph with blue squares&#10;&#10;AI-generated content may be incorrect.">
            <a:extLst>
              <a:ext uri="{FF2B5EF4-FFF2-40B4-BE49-F238E27FC236}">
                <a16:creationId xmlns:a16="http://schemas.microsoft.com/office/drawing/2014/main" id="{77BB2BB6-B4B2-2262-688D-8B7889C988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6835" y="4421446"/>
            <a:ext cx="2580638" cy="1593544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BC054689-56EC-BBEF-17D5-3FAEAFF5C3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D84F49E-6627-6F97-5C42-38166C79C7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0E6611D-1F85-FC1B-8175-3F6F70729D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27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132312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47DB6-F887-411D-6CEA-99B0DB69C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4597747" cy="1616203"/>
          </a:xfrm>
        </p:spPr>
        <p:txBody>
          <a:bodyPr anchor="b">
            <a:normAutofit/>
          </a:bodyPr>
          <a:lstStyle/>
          <a:p>
            <a:r>
              <a:rPr lang="en-US" sz="3200" b="1">
                <a:latin typeface="Helvetica Neue"/>
              </a:rPr>
              <a:t>Implementation Plan</a:t>
            </a:r>
            <a:endParaRPr 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B854D-9C9C-A2E7-0569-5721E4898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4597746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1000" b="1">
                <a:ea typeface="+mn-lt"/>
                <a:cs typeface="+mn-lt"/>
              </a:rPr>
              <a:t>Comprehensive Project Lifecycle (36 months):</a:t>
            </a:r>
            <a:endParaRPr lang="en-US" sz="100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000">
                <a:ea typeface="+mn-lt"/>
                <a:cs typeface="+mn-lt"/>
              </a:rPr>
              <a:t>Research Phase (3 months): Needs assessment, regulatory compliance</a:t>
            </a:r>
          </a:p>
          <a:p>
            <a:pPr>
              <a:buFont typeface="Arial"/>
              <a:buChar char="•"/>
            </a:pPr>
            <a:r>
              <a:rPr lang="en-US" sz="1000">
                <a:ea typeface="+mn-lt"/>
                <a:cs typeface="+mn-lt"/>
              </a:rPr>
              <a:t>Design Phase (4 months): System architecture, UI/UX, security protocols</a:t>
            </a:r>
          </a:p>
          <a:p>
            <a:pPr>
              <a:buFont typeface="Arial"/>
              <a:buChar char="•"/>
            </a:pPr>
            <a:r>
              <a:rPr lang="en-US" sz="1000">
                <a:ea typeface="+mn-lt"/>
                <a:cs typeface="+mn-lt"/>
              </a:rPr>
              <a:t>Development Phase (6 months): Core components, integrations, analytics</a:t>
            </a:r>
          </a:p>
          <a:p>
            <a:pPr>
              <a:buFont typeface="Arial"/>
              <a:buChar char="•"/>
            </a:pPr>
            <a:r>
              <a:rPr lang="en-US" sz="1000">
                <a:ea typeface="+mn-lt"/>
                <a:cs typeface="+mn-lt"/>
              </a:rPr>
              <a:t>Testing Phase (3 months): Quality assurance, security validation</a:t>
            </a:r>
          </a:p>
          <a:p>
            <a:pPr>
              <a:buFont typeface="Arial"/>
              <a:buChar char="•"/>
            </a:pPr>
            <a:r>
              <a:rPr lang="en-US" sz="1000">
                <a:ea typeface="+mn-lt"/>
                <a:cs typeface="+mn-lt"/>
              </a:rPr>
              <a:t>Pilot Deployment (3 months): 5,000 households in selected urban area</a:t>
            </a:r>
          </a:p>
          <a:p>
            <a:pPr>
              <a:buFont typeface="Arial"/>
              <a:buChar char="•"/>
            </a:pPr>
            <a:r>
              <a:rPr lang="en-US" sz="1000">
                <a:ea typeface="+mn-lt"/>
                <a:cs typeface="+mn-lt"/>
              </a:rPr>
              <a:t>Full Deployment (12 months): Phased rollout across regions</a:t>
            </a:r>
          </a:p>
          <a:p>
            <a:pPr>
              <a:buFont typeface="Arial"/>
              <a:buChar char="•"/>
            </a:pPr>
            <a:r>
              <a:rPr lang="en-US" sz="1000">
                <a:ea typeface="+mn-lt"/>
                <a:cs typeface="+mn-lt"/>
              </a:rPr>
              <a:t>Maintenance &amp; Enhancement (5 months): Ongoing support</a:t>
            </a:r>
          </a:p>
          <a:p>
            <a:pPr indent="0">
              <a:buNone/>
            </a:pPr>
            <a:r>
              <a:rPr lang="en-US" sz="1000" b="1">
                <a:ea typeface="+mn-lt"/>
                <a:cs typeface="+mn-lt"/>
              </a:rPr>
              <a:t>Key Milestones:</a:t>
            </a:r>
            <a:endParaRPr lang="en-US" sz="100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000">
                <a:ea typeface="+mn-lt"/>
                <a:cs typeface="+mn-lt"/>
              </a:rPr>
              <a:t>Urban Deployment (Month 25): 100,000+ connections in major cities</a:t>
            </a:r>
          </a:p>
          <a:p>
            <a:pPr>
              <a:buFont typeface="Arial"/>
              <a:buChar char="•"/>
            </a:pPr>
            <a:r>
              <a:rPr lang="en-US" sz="1000">
                <a:ea typeface="+mn-lt"/>
                <a:cs typeface="+mn-lt"/>
              </a:rPr>
              <a:t>Full Deployment (Month 31): Nationwide coverage</a:t>
            </a:r>
          </a:p>
          <a:p>
            <a:pPr>
              <a:buFont typeface="Arial"/>
              <a:buChar char="•"/>
            </a:pPr>
            <a:r>
              <a:rPr lang="en-US" sz="1000">
                <a:ea typeface="+mn-lt"/>
                <a:cs typeface="+mn-lt"/>
              </a:rPr>
              <a:t>System Integration (Month 33): Complete integration with utilities</a:t>
            </a:r>
          </a:p>
          <a:p>
            <a:pPr>
              <a:buFont typeface="Arial"/>
              <a:buChar char="•"/>
            </a:pPr>
            <a:r>
              <a:rPr lang="en-US" sz="1000">
                <a:ea typeface="+mn-lt"/>
                <a:cs typeface="+mn-lt"/>
              </a:rPr>
              <a:t>Performance Optimization (Month 36): System refinement</a:t>
            </a: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7B8DA98B-9D54-CA01-2B78-26B6972F8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1" y="1868878"/>
            <a:ext cx="5319062" cy="3045162"/>
          </a:xfrm>
          <a:prstGeom prst="rect">
            <a:avLst/>
          </a:prstGeom>
        </p:spPr>
      </p:pic>
      <p:grpSp>
        <p:nvGrpSpPr>
          <p:cNvPr id="124" name="Group 123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970326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67CF3-DF5C-987A-DAAC-87F8314E4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0285" y="741391"/>
            <a:ext cx="3443514" cy="1616203"/>
          </a:xfrm>
        </p:spPr>
        <p:txBody>
          <a:bodyPr anchor="b">
            <a:normAutofit/>
          </a:bodyPr>
          <a:lstStyle/>
          <a:p>
            <a:r>
              <a:rPr lang="en-US" sz="3200">
                <a:ea typeface="+mj-lt"/>
                <a:cs typeface="+mj-lt"/>
              </a:rPr>
              <a:t>System Architecture</a:t>
            </a:r>
            <a:endParaRPr lang="en-US" sz="3200"/>
          </a:p>
        </p:txBody>
      </p:sp>
      <p:pic>
        <p:nvPicPr>
          <p:cNvPr id="4" name="Picture 3" descr="Getting Started With a Private LoRaWAN Network -">
            <a:extLst>
              <a:ext uri="{FF2B5EF4-FFF2-40B4-BE49-F238E27FC236}">
                <a16:creationId xmlns:a16="http://schemas.microsoft.com/office/drawing/2014/main" id="{FD38C241-ABF9-22F5-56AC-FA513D9E6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114" y="2031212"/>
            <a:ext cx="6449549" cy="272493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BC1A5-B117-4499-C519-4989CD1D6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0285" y="2533476"/>
            <a:ext cx="3443514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700" b="1">
                <a:ea typeface="+mn-lt"/>
                <a:cs typeface="+mn-lt"/>
              </a:rPr>
              <a:t>Core Components:</a:t>
            </a:r>
            <a:endParaRPr lang="en-US" sz="700"/>
          </a:p>
          <a:p>
            <a:pPr>
              <a:buFont typeface="Arial"/>
              <a:buChar char="•"/>
            </a:pPr>
            <a:r>
              <a:rPr lang="en-US" sz="700" b="1">
                <a:ea typeface="+mn-lt"/>
                <a:cs typeface="+mn-lt"/>
              </a:rPr>
              <a:t>LoRaWAN-enabled Smart Meters:</a:t>
            </a:r>
            <a:r>
              <a:rPr lang="en-US" sz="700">
                <a:ea typeface="+mn-lt"/>
                <a:cs typeface="+mn-lt"/>
              </a:rPr>
              <a:t> </a:t>
            </a:r>
            <a:endParaRPr lang="en-US" sz="700"/>
          </a:p>
          <a:p>
            <a:pPr marL="971550" lvl="1" indent="-285750">
              <a:buFont typeface="Arial"/>
              <a:buChar char="•"/>
            </a:pPr>
            <a:r>
              <a:rPr lang="en-US" sz="700">
                <a:ea typeface="+mn-lt"/>
                <a:cs typeface="+mn-lt"/>
              </a:rPr>
              <a:t>Tamper-resistant design with real-time monitoring</a:t>
            </a:r>
            <a:endParaRPr lang="en-US" sz="700"/>
          </a:p>
          <a:p>
            <a:pPr marL="971550" lvl="1" indent="-285750">
              <a:buFont typeface="Arial"/>
              <a:buChar char="•"/>
            </a:pPr>
            <a:r>
              <a:rPr lang="en-US" sz="700">
                <a:ea typeface="+mn-lt"/>
                <a:cs typeface="+mn-lt"/>
              </a:rPr>
              <a:t>AES-128 encryption for security</a:t>
            </a:r>
            <a:endParaRPr lang="en-US" sz="700"/>
          </a:p>
          <a:p>
            <a:pPr marL="971550" lvl="1" indent="-285750">
              <a:buFont typeface="Arial"/>
              <a:buChar char="•"/>
            </a:pPr>
            <a:r>
              <a:rPr lang="en-US" sz="700">
                <a:ea typeface="+mn-lt"/>
                <a:cs typeface="+mn-lt"/>
              </a:rPr>
              <a:t>Battery life of 7-10 years</a:t>
            </a:r>
            <a:endParaRPr lang="en-US" sz="700"/>
          </a:p>
          <a:p>
            <a:pPr marL="971550" lvl="1" indent="-285750">
              <a:buFont typeface="Arial"/>
              <a:buChar char="•"/>
            </a:pPr>
            <a:r>
              <a:rPr lang="en-US" sz="700">
                <a:ea typeface="+mn-lt"/>
                <a:cs typeface="+mn-lt"/>
              </a:rPr>
              <a:t>Examples include models like STK25MI gas meters</a:t>
            </a:r>
            <a:endParaRPr lang="en-US" sz="700"/>
          </a:p>
          <a:p>
            <a:pPr>
              <a:buFont typeface="Arial"/>
              <a:buChar char="•"/>
            </a:pPr>
            <a:r>
              <a:rPr lang="en-US" sz="700" b="1">
                <a:ea typeface="+mn-lt"/>
                <a:cs typeface="+mn-lt"/>
              </a:rPr>
              <a:t>LoRaWAN Network Infrastructure:</a:t>
            </a:r>
            <a:r>
              <a:rPr lang="en-US" sz="700">
                <a:ea typeface="+mn-lt"/>
                <a:cs typeface="+mn-lt"/>
              </a:rPr>
              <a:t> </a:t>
            </a:r>
            <a:endParaRPr lang="en-US" sz="700"/>
          </a:p>
          <a:p>
            <a:pPr marL="971550" lvl="1" indent="-285750">
              <a:buFont typeface="Arial"/>
              <a:buChar char="•"/>
            </a:pPr>
            <a:r>
              <a:rPr lang="en-US" sz="700">
                <a:ea typeface="+mn-lt"/>
                <a:cs typeface="+mn-lt"/>
              </a:rPr>
              <a:t>Carrier-grade gateways with 10-15 km range</a:t>
            </a:r>
            <a:endParaRPr lang="en-US" sz="700"/>
          </a:p>
          <a:p>
            <a:pPr marL="971550" lvl="1" indent="-285750">
              <a:buFont typeface="Arial"/>
              <a:buChar char="•"/>
            </a:pPr>
            <a:r>
              <a:rPr lang="en-US" sz="700">
                <a:ea typeface="+mn-lt"/>
                <a:cs typeface="+mn-lt"/>
              </a:rPr>
              <a:t>Hybrid connectivity options for reliability</a:t>
            </a:r>
            <a:endParaRPr lang="en-US" sz="700"/>
          </a:p>
          <a:p>
            <a:pPr marL="971550" lvl="1" indent="-285750">
              <a:buFont typeface="Arial"/>
              <a:buChar char="•"/>
            </a:pPr>
            <a:r>
              <a:rPr lang="en-US" sz="700">
                <a:ea typeface="+mn-lt"/>
                <a:cs typeface="+mn-lt"/>
              </a:rPr>
              <a:t>Mesh network capabilities for urban environments</a:t>
            </a:r>
            <a:endParaRPr lang="en-US" sz="700"/>
          </a:p>
          <a:p>
            <a:pPr>
              <a:buFont typeface="Arial"/>
              <a:buChar char="•"/>
            </a:pPr>
            <a:r>
              <a:rPr lang="en-US" sz="700" b="1">
                <a:ea typeface="+mn-lt"/>
                <a:cs typeface="+mn-lt"/>
              </a:rPr>
              <a:t>Centralized Management Platform:</a:t>
            </a:r>
            <a:r>
              <a:rPr lang="en-US" sz="700">
                <a:ea typeface="+mn-lt"/>
                <a:cs typeface="+mn-lt"/>
              </a:rPr>
              <a:t> </a:t>
            </a:r>
            <a:endParaRPr lang="en-US" sz="700"/>
          </a:p>
          <a:p>
            <a:pPr marL="971550" lvl="1" indent="-285750">
              <a:buFont typeface="Arial"/>
              <a:buChar char="•"/>
            </a:pPr>
            <a:r>
              <a:rPr lang="en-US" sz="700">
                <a:ea typeface="+mn-lt"/>
                <a:cs typeface="+mn-lt"/>
              </a:rPr>
              <a:t>Real-time dashboard for utility monitoring</a:t>
            </a:r>
            <a:endParaRPr lang="en-US" sz="700"/>
          </a:p>
          <a:p>
            <a:pPr marL="971550" lvl="1" indent="-285750">
              <a:buFont typeface="Arial"/>
              <a:buChar char="•"/>
            </a:pPr>
            <a:r>
              <a:rPr lang="en-US" sz="700">
                <a:ea typeface="+mn-lt"/>
                <a:cs typeface="+mn-lt"/>
              </a:rPr>
              <a:t>Outage mapping and management</a:t>
            </a:r>
            <a:endParaRPr lang="en-US" sz="700"/>
          </a:p>
          <a:p>
            <a:pPr marL="971550" lvl="1" indent="-285750">
              <a:buFont typeface="Arial"/>
              <a:buChar char="•"/>
            </a:pPr>
            <a:r>
              <a:rPr lang="en-US" sz="700">
                <a:ea typeface="+mn-lt"/>
                <a:cs typeface="+mn-lt"/>
              </a:rPr>
              <a:t>Payment integration system</a:t>
            </a:r>
            <a:endParaRPr lang="en-US" sz="700"/>
          </a:p>
          <a:p>
            <a:pPr marL="971550" lvl="1" indent="-285750">
              <a:buFont typeface="Arial"/>
              <a:buChar char="•"/>
            </a:pPr>
            <a:r>
              <a:rPr lang="en-US" sz="700">
                <a:ea typeface="+mn-lt"/>
                <a:cs typeface="+mn-lt"/>
              </a:rPr>
              <a:t>Analytics engine for pattern detection</a:t>
            </a:r>
            <a:endParaRPr lang="en-US" sz="700"/>
          </a:p>
          <a:p>
            <a:pPr>
              <a:buFont typeface="Arial"/>
              <a:buChar char="•"/>
            </a:pPr>
            <a:r>
              <a:rPr lang="en-US" sz="700" b="1">
                <a:ea typeface="+mn-lt"/>
                <a:cs typeface="+mn-lt"/>
              </a:rPr>
              <a:t>User Interfaces:</a:t>
            </a:r>
            <a:r>
              <a:rPr lang="en-US" sz="700">
                <a:ea typeface="+mn-lt"/>
                <a:cs typeface="+mn-lt"/>
              </a:rPr>
              <a:t> </a:t>
            </a:r>
            <a:endParaRPr lang="en-US" sz="700"/>
          </a:p>
          <a:p>
            <a:pPr marL="971550" lvl="1" indent="-285750">
              <a:buFont typeface="Arial"/>
              <a:buChar char="•"/>
            </a:pPr>
            <a:r>
              <a:rPr lang="en-US" sz="700">
                <a:ea typeface="+mn-lt"/>
                <a:cs typeface="+mn-lt"/>
              </a:rPr>
              <a:t>Mobile application for consumers</a:t>
            </a:r>
            <a:endParaRPr lang="en-US" sz="700"/>
          </a:p>
          <a:p>
            <a:pPr marL="971550" lvl="1" indent="-285750">
              <a:buFont typeface="Arial"/>
              <a:buChar char="•"/>
            </a:pPr>
            <a:r>
              <a:rPr lang="en-US" sz="700">
                <a:ea typeface="+mn-lt"/>
                <a:cs typeface="+mn-lt"/>
              </a:rPr>
              <a:t>Web portal for utility authorities</a:t>
            </a:r>
            <a:endParaRPr lang="en-US" sz="700"/>
          </a:p>
          <a:p>
            <a:pPr marL="971550" lvl="1" indent="-285750">
              <a:buFont typeface="Arial"/>
              <a:buChar char="•"/>
            </a:pPr>
            <a:r>
              <a:rPr lang="en-US" sz="700">
                <a:ea typeface="+mn-lt"/>
                <a:cs typeface="+mn-lt"/>
              </a:rPr>
              <a:t>API integration for third-party services</a:t>
            </a:r>
            <a:endParaRPr lang="en-US" sz="700"/>
          </a:p>
          <a:p>
            <a:pPr marL="0" indent="0">
              <a:buNone/>
            </a:pPr>
            <a:endParaRPr lang="en-US" sz="700">
              <a:ea typeface="Calibri" panose="020F0502020204030204"/>
              <a:cs typeface="Calibri" panose="020F0502020204030204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1C49F18-8757-4E87-5C2E-9D6D7B82B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5C84D91-E5BF-B919-ACEF-4A25262CE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D889E38-27CA-E23F-B646-8D7B4BB17D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542820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7024687B-3153-123C-0A8C-D7D007FAF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D6305F5-7509-0BF5-12D3-30451FCD7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71C5C7A-6D55-5B27-646E-39C962693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3B3B1F4-948C-963C-E6EA-60CF7FBFA2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13D79B4-0E03-3304-8D11-80A21C588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Comparative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C7BAC1-086E-464C-E1DA-0A6ED9CD4D1B}"/>
              </a:ext>
            </a:extLst>
          </p:cNvPr>
          <p:cNvSpPr txBox="1"/>
          <p:nvPr/>
        </p:nvSpPr>
        <p:spPr>
          <a:xfrm>
            <a:off x="876301" y="2308124"/>
            <a:ext cx="5025735" cy="367357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Current System vs. CLIX System:</a:t>
            </a:r>
            <a:endParaRPr lang="en-US" sz="17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Key Improvements: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Non-revenue water loss reduction from 25-30% to 10%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Elimination of 5.72% electricity distribution losses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Minimization of 7.67% gas system inefficiencies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95% detection accuracy for unusual consumption vs. &lt;30% in current systems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Average payment time reduced from 45 minutes to under 2 minutes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558F203-3001-065B-51C3-A04EB9ECE3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5331494"/>
              </p:ext>
            </p:extLst>
          </p:nvPr>
        </p:nvGraphicFramePr>
        <p:xfrm>
          <a:off x="6784258" y="2323350"/>
          <a:ext cx="4531443" cy="364312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49818">
                  <a:extLst>
                    <a:ext uri="{9D8B030D-6E8A-4147-A177-3AD203B41FA5}">
                      <a16:colId xmlns:a16="http://schemas.microsoft.com/office/drawing/2014/main" val="459258450"/>
                    </a:ext>
                  </a:extLst>
                </a:gridCol>
                <a:gridCol w="1594254">
                  <a:extLst>
                    <a:ext uri="{9D8B030D-6E8A-4147-A177-3AD203B41FA5}">
                      <a16:colId xmlns:a16="http://schemas.microsoft.com/office/drawing/2014/main" val="2387395224"/>
                    </a:ext>
                  </a:extLst>
                </a:gridCol>
                <a:gridCol w="1487371">
                  <a:extLst>
                    <a:ext uri="{9D8B030D-6E8A-4147-A177-3AD203B41FA5}">
                      <a16:colId xmlns:a16="http://schemas.microsoft.com/office/drawing/2014/main" val="3548276593"/>
                    </a:ext>
                  </a:extLst>
                </a:gridCol>
              </a:tblGrid>
              <a:tr h="520447">
                <a:tc>
                  <a:txBody>
                    <a:bodyPr/>
                    <a:lstStyle/>
                    <a:p>
                      <a:r>
                        <a:rPr lang="en-US" sz="1400" b="1" dirty="0"/>
                        <a:t>Feature</a:t>
                      </a:r>
                    </a:p>
                  </a:txBody>
                  <a:tcPr marL="71192" marR="71192" marT="35596" marB="3559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Current System ("As Is")</a:t>
                      </a:r>
                    </a:p>
                  </a:txBody>
                  <a:tcPr marL="71192" marR="71192" marT="35596" marB="3559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CLIX System ("To Be")</a:t>
                      </a:r>
                    </a:p>
                  </a:txBody>
                  <a:tcPr marL="71192" marR="71192" marT="35596" marB="3559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7260937"/>
                  </a:ext>
                </a:extLst>
              </a:tr>
              <a:tr h="520447">
                <a:tc>
                  <a:txBody>
                    <a:bodyPr/>
                    <a:lstStyle/>
                    <a:p>
                      <a:r>
                        <a:rPr lang="en-US" sz="1400" dirty="0"/>
                        <a:t>Meter Reading</a:t>
                      </a:r>
                    </a:p>
                  </a:txBody>
                  <a:tcPr marL="71192" marR="71192" marT="35596" marB="3559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Manual, once per month</a:t>
                      </a:r>
                    </a:p>
                  </a:txBody>
                  <a:tcPr marL="71192" marR="71192" marT="35596" marB="3559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Automated, real-time</a:t>
                      </a:r>
                    </a:p>
                  </a:txBody>
                  <a:tcPr marL="71192" marR="71192" marT="35596" marB="3559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5840576"/>
                  </a:ext>
                </a:extLst>
              </a:tr>
              <a:tr h="520447">
                <a:tc>
                  <a:txBody>
                    <a:bodyPr/>
                    <a:lstStyle/>
                    <a:p>
                      <a:r>
                        <a:rPr lang="en-US" sz="1400" dirty="0"/>
                        <a:t>Usage Updates</a:t>
                      </a:r>
                    </a:p>
                  </a:txBody>
                  <a:tcPr marL="71192" marR="71192" marT="35596" marB="3559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24-hour delay</a:t>
                      </a:r>
                    </a:p>
                  </a:txBody>
                  <a:tcPr marL="71192" marR="71192" marT="35596" marB="3559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Instant monitoring</a:t>
                      </a:r>
                    </a:p>
                  </a:txBody>
                  <a:tcPr marL="71192" marR="71192" marT="35596" marB="3559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7595760"/>
                  </a:ext>
                </a:extLst>
              </a:tr>
              <a:tr h="520447">
                <a:tc>
                  <a:txBody>
                    <a:bodyPr/>
                    <a:lstStyle/>
                    <a:p>
                      <a:r>
                        <a:rPr lang="en-US" sz="1400" dirty="0"/>
                        <a:t>Fraud Prevention</a:t>
                      </a:r>
                    </a:p>
                  </a:txBody>
                  <a:tcPr marL="71192" marR="71192" marT="35596" marB="3559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Vulnerable to collusion</a:t>
                      </a:r>
                    </a:p>
                  </a:txBody>
                  <a:tcPr marL="71192" marR="71192" marT="35596" marB="3559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Tamper-resistant design</a:t>
                      </a:r>
                    </a:p>
                  </a:txBody>
                  <a:tcPr marL="71192" marR="71192" marT="35596" marB="3559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7319785"/>
                  </a:ext>
                </a:extLst>
              </a:tr>
              <a:tr h="520447">
                <a:tc>
                  <a:txBody>
                    <a:bodyPr/>
                    <a:lstStyle/>
                    <a:p>
                      <a:r>
                        <a:rPr lang="en-US" sz="1400" dirty="0"/>
                        <a:t>Payment System</a:t>
                      </a:r>
                    </a:p>
                  </a:txBody>
                  <a:tcPr marL="71192" marR="71192" marT="35596" marB="3559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Physical visits required</a:t>
                      </a:r>
                    </a:p>
                  </a:txBody>
                  <a:tcPr marL="71192" marR="71192" marT="35596" marB="3559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Remote mobile payment</a:t>
                      </a:r>
                    </a:p>
                  </a:txBody>
                  <a:tcPr marL="71192" marR="71192" marT="35596" marB="3559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24163"/>
                  </a:ext>
                </a:extLst>
              </a:tr>
              <a:tr h="520447">
                <a:tc>
                  <a:txBody>
                    <a:bodyPr/>
                    <a:lstStyle/>
                    <a:p>
                      <a:r>
                        <a:rPr lang="en-US" sz="1400" dirty="0"/>
                        <a:t>Consumer Visibility</a:t>
                      </a:r>
                    </a:p>
                  </a:txBody>
                  <a:tcPr marL="71192" marR="71192" marT="35596" marB="3559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Limited insight</a:t>
                      </a:r>
                    </a:p>
                  </a:txBody>
                  <a:tcPr marL="71192" marR="71192" marT="35596" marB="3559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Detailed analytics</a:t>
                      </a:r>
                    </a:p>
                  </a:txBody>
                  <a:tcPr marL="71192" marR="71192" marT="35596" marB="3559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808642"/>
                  </a:ext>
                </a:extLst>
              </a:tr>
              <a:tr h="520447">
                <a:tc>
                  <a:txBody>
                    <a:bodyPr/>
                    <a:lstStyle/>
                    <a:p>
                      <a:r>
                        <a:rPr lang="en-US" sz="1400" dirty="0"/>
                        <a:t>System Integration</a:t>
                      </a:r>
                    </a:p>
                  </a:txBody>
                  <a:tcPr marL="71192" marR="71192" marT="35596" marB="3559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Siloed utilities</a:t>
                      </a:r>
                    </a:p>
                  </a:txBody>
                  <a:tcPr marL="71192" marR="71192" marT="35596" marB="3559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Unified platform</a:t>
                      </a:r>
                    </a:p>
                  </a:txBody>
                  <a:tcPr marL="71192" marR="71192" marT="35596" marB="35596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4805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88015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8AD85-1720-9B9F-2591-DBF9A3239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anchor="b">
            <a:normAutofit/>
          </a:bodyPr>
          <a:lstStyle/>
          <a:p>
            <a:r>
              <a:rPr lang="en-US" sz="3200">
                <a:ea typeface="+mj-lt"/>
                <a:cs typeface="+mj-lt"/>
              </a:rPr>
              <a:t>REVENUE Model</a:t>
            </a:r>
            <a:endParaRPr 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8743E-33CC-161C-9F70-D047F54621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3455821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1600" b="1">
                <a:latin typeface="Helvetica Neue"/>
                <a:ea typeface="Calibri"/>
                <a:cs typeface="Calibri"/>
              </a:rPr>
              <a:t>Customer-Based Revenue</a:t>
            </a:r>
            <a:r>
              <a:rPr lang="en-US" sz="1600">
                <a:latin typeface="Helvetica Neue"/>
                <a:ea typeface="Calibri"/>
                <a:cs typeface="Calibri"/>
              </a:rPr>
              <a:t>: Utility providers will share a portion of their revenue with CLIX.</a:t>
            </a:r>
            <a:endParaRPr lang="en-US" sz="1600"/>
          </a:p>
          <a:p>
            <a:pPr>
              <a:buNone/>
            </a:pPr>
            <a:r>
              <a:rPr lang="en-US" sz="1600" b="1">
                <a:latin typeface="Helvetica Neue"/>
                <a:ea typeface="Calibri"/>
                <a:cs typeface="Calibri"/>
              </a:rPr>
              <a:t>Enterprise-Based Revenue: </a:t>
            </a:r>
            <a:r>
              <a:rPr lang="en-US" sz="1600">
                <a:latin typeface="Helvetica Neue"/>
                <a:ea typeface="Calibri"/>
                <a:cs typeface="Calibri"/>
              </a:rPr>
              <a:t>CLIX will provide advanced monitoring systems to enterprise users. These users will pay utility providers, and CLIX will receive a share of this revenue. Additionally, CLIX will earn income through subscription fees.</a:t>
            </a:r>
            <a:endParaRPr lang="en-US" sz="1600"/>
          </a:p>
          <a:p>
            <a:pPr marL="0" indent="0">
              <a:buNone/>
            </a:pPr>
            <a:br>
              <a:rPr lang="en-US" sz="1600"/>
            </a:br>
            <a:endParaRPr lang="en-US" sz="1600"/>
          </a:p>
        </p:txBody>
      </p:sp>
      <p:pic>
        <p:nvPicPr>
          <p:cNvPr id="4" name="Picture 3" descr="Calculator, pen, compass, money and a paper with graphs printed on it">
            <a:extLst>
              <a:ext uri="{FF2B5EF4-FFF2-40B4-BE49-F238E27FC236}">
                <a16:creationId xmlns:a16="http://schemas.microsoft.com/office/drawing/2014/main" id="{38072ED2-64CB-79EC-3F79-E43F406FC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672" y="1508865"/>
            <a:ext cx="6389346" cy="384958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865143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62FF2-ECD2-0BFA-4A33-998EC9F01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3658" y="741391"/>
            <a:ext cx="5219307" cy="1616203"/>
          </a:xfrm>
        </p:spPr>
        <p:txBody>
          <a:bodyPr anchor="b">
            <a:normAutofit/>
          </a:bodyPr>
          <a:lstStyle/>
          <a:p>
            <a:r>
              <a:rPr lang="en-US" sz="3200">
                <a:ea typeface="+mj-lt"/>
                <a:cs typeface="+mj-lt"/>
              </a:rPr>
              <a:t>Economic Feasibility</a:t>
            </a:r>
            <a:endParaRPr lang="en-US" sz="3200"/>
          </a:p>
        </p:txBody>
      </p:sp>
      <p:pic>
        <p:nvPicPr>
          <p:cNvPr id="4" name="Picture 3" descr="A graph with a line and a red and green line&#10;&#10;AI-generated content may be incorrect.">
            <a:extLst>
              <a:ext uri="{FF2B5EF4-FFF2-40B4-BE49-F238E27FC236}">
                <a16:creationId xmlns:a16="http://schemas.microsoft.com/office/drawing/2014/main" id="{51413742-D366-FAD4-E5D9-43A8F7C36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114" y="2068868"/>
            <a:ext cx="4408730" cy="261217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77C01-E10B-5C4C-60C9-35633C06E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3657" y="2533475"/>
            <a:ext cx="5219307" cy="344822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1300" b="1">
                <a:ea typeface="+mn-lt"/>
                <a:cs typeface="+mn-lt"/>
              </a:rPr>
              <a:t>Investment Overview:</a:t>
            </a:r>
            <a:endParaRPr lang="en-US" sz="130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300">
                <a:ea typeface="+mn-lt"/>
                <a:cs typeface="+mn-lt"/>
              </a:rPr>
              <a:t>Total project cost: 1420.55 crore BDT</a:t>
            </a:r>
          </a:p>
          <a:p>
            <a:pPr>
              <a:buFont typeface="Arial"/>
              <a:buChar char="•"/>
            </a:pPr>
            <a:r>
              <a:rPr lang="en-US" sz="1300">
                <a:ea typeface="+mn-lt"/>
                <a:cs typeface="+mn-lt"/>
              </a:rPr>
              <a:t>Initial investment: 566.5 crore BDT</a:t>
            </a:r>
          </a:p>
          <a:p>
            <a:pPr>
              <a:buFont typeface="Arial"/>
              <a:buChar char="•"/>
            </a:pPr>
            <a:r>
              <a:rPr lang="en-US" sz="1300">
                <a:ea typeface="+mn-lt"/>
                <a:cs typeface="+mn-lt"/>
              </a:rPr>
              <a:t>10-year maintenance costs: 675.0 crore BDT</a:t>
            </a:r>
            <a:endParaRPr lang="en-US" sz="1300"/>
          </a:p>
          <a:p>
            <a:pPr>
              <a:buFont typeface="Arial"/>
              <a:buChar char="•"/>
            </a:pPr>
            <a:r>
              <a:rPr lang="en-US" sz="1300">
                <a:ea typeface="+mn-lt"/>
                <a:cs typeface="+mn-lt"/>
              </a:rPr>
              <a:t>Contingency (10%): 129.05 crore BDT</a:t>
            </a:r>
            <a:endParaRPr lang="en-US" sz="1300"/>
          </a:p>
          <a:p>
            <a:pPr indent="0">
              <a:buNone/>
            </a:pPr>
            <a:r>
              <a:rPr lang="en-US" sz="1300" b="1">
                <a:ea typeface="+mn-lt"/>
                <a:cs typeface="+mn-lt"/>
              </a:rPr>
              <a:t>Financial Metrics:</a:t>
            </a:r>
          </a:p>
          <a:p>
            <a:pPr>
              <a:buFont typeface="Arial"/>
              <a:buChar char="•"/>
            </a:pPr>
            <a:r>
              <a:rPr lang="en-US" sz="1300">
                <a:ea typeface="+mn-lt"/>
                <a:cs typeface="+mn-lt"/>
              </a:rPr>
              <a:t>Net Present Value (NPV): 448.73 crore BDT</a:t>
            </a:r>
            <a:endParaRPr lang="en-US" sz="1300"/>
          </a:p>
          <a:p>
            <a:pPr>
              <a:buFont typeface="Arial"/>
              <a:buChar char="•"/>
            </a:pPr>
            <a:r>
              <a:rPr lang="en-US" sz="1300">
                <a:ea typeface="+mn-lt"/>
                <a:cs typeface="+mn-lt"/>
              </a:rPr>
              <a:t>ROI: 87.95%</a:t>
            </a:r>
          </a:p>
          <a:p>
            <a:pPr>
              <a:buFont typeface="Arial"/>
              <a:buChar char="•"/>
            </a:pPr>
            <a:r>
              <a:rPr lang="en-US" sz="1300">
                <a:ea typeface="+mn-lt"/>
                <a:cs typeface="+mn-lt"/>
              </a:rPr>
              <a:t>Payback Period: 5.44 years (5 years, 5 months)</a:t>
            </a:r>
            <a:endParaRPr lang="en-US" sz="1300"/>
          </a:p>
          <a:p>
            <a:pPr>
              <a:buFont typeface="Arial"/>
              <a:buChar char="•"/>
            </a:pPr>
            <a:r>
              <a:rPr lang="en-US" sz="1300">
                <a:ea typeface="+mn-lt"/>
                <a:cs typeface="+mn-lt"/>
              </a:rPr>
              <a:t>Total Cash Inflow over 10 years: 2670 crore BDT</a:t>
            </a:r>
            <a:endParaRPr lang="en-US" sz="1300"/>
          </a:p>
          <a:p>
            <a:pPr>
              <a:buFont typeface="Arial"/>
              <a:buChar char="•"/>
            </a:pPr>
            <a:r>
              <a:rPr lang="en-US" sz="1300">
                <a:ea typeface="+mn-lt"/>
                <a:cs typeface="+mn-lt"/>
              </a:rPr>
              <a:t>Net Benefit: 1249.45 crore BDT</a:t>
            </a:r>
            <a:endParaRPr lang="en-US" sz="130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6C73AF9-0D33-5C66-5D79-0D0129904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D96FD6F-5EE9-36C7-C200-3111EF6D0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2A39BB2-02C1-8A8B-8021-68446E0474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655357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068E9-7F99-99B8-A8F3-8C70E694B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878" y="741391"/>
            <a:ext cx="4491821" cy="1616203"/>
          </a:xfrm>
        </p:spPr>
        <p:txBody>
          <a:bodyPr anchor="b">
            <a:normAutofit/>
          </a:bodyPr>
          <a:lstStyle/>
          <a:p>
            <a:r>
              <a:rPr lang="en-US" sz="3200">
                <a:ea typeface="+mj-lt"/>
                <a:cs typeface="+mj-lt"/>
              </a:rPr>
              <a:t>SUSTAINABILITY</a:t>
            </a:r>
            <a:endParaRPr lang="en-US" sz="3200"/>
          </a:p>
        </p:txBody>
      </p:sp>
      <p:pic>
        <p:nvPicPr>
          <p:cNvPr id="35" name="Picture 34" descr="Close-up of fresh spinach">
            <a:extLst>
              <a:ext uri="{FF2B5EF4-FFF2-40B4-BE49-F238E27FC236}">
                <a16:creationId xmlns:a16="http://schemas.microsoft.com/office/drawing/2014/main" id="{108430CB-A0EF-E2C8-DCC7-0CD8BE81A8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135" r="31531" b="-1"/>
          <a:stretch/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grpSp>
        <p:nvGrpSpPr>
          <p:cNvPr id="55" name="Group 54">
            <a:extLst>
              <a:ext uri="{FF2B5EF4-FFF2-40B4-BE49-F238E27FC236}">
                <a16:creationId xmlns:a16="http://schemas.microsoft.com/office/drawing/2014/main" id="{5EFBDE31-BB3E-6CFC-23CD-B5976DA3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180A60EC-72BB-121F-556A-E2837FD99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F91A2FAE-D41C-FF5D-B0A0-7808248ED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D575F-96D4-DCB6-05C1-DA510BCA6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3878" y="2533476"/>
            <a:ext cx="4491820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1300" b="1">
                <a:ea typeface="+mn-lt"/>
                <a:cs typeface="+mn-lt"/>
              </a:rPr>
              <a:t>Economic Benefits:</a:t>
            </a:r>
            <a:endParaRPr lang="en-US" sz="1300"/>
          </a:p>
          <a:p>
            <a:pPr>
              <a:buFont typeface="Arial"/>
              <a:buChar char="•"/>
            </a:pPr>
            <a:r>
              <a:rPr lang="en-US" sz="1300">
                <a:ea typeface="+mn-lt"/>
                <a:cs typeface="+mn-lt"/>
              </a:rPr>
              <a:t>50% reduction in manual meter-reading expenses</a:t>
            </a:r>
            <a:endParaRPr lang="en-US" sz="1300"/>
          </a:p>
          <a:p>
            <a:pPr>
              <a:buFont typeface="Arial"/>
              <a:buChar char="•"/>
            </a:pPr>
            <a:r>
              <a:rPr lang="en-US" sz="1300">
                <a:ea typeface="+mn-lt"/>
                <a:cs typeface="+mn-lt"/>
              </a:rPr>
              <a:t>15-20% reduction in utility waste (20-25 crore BDT annually)</a:t>
            </a:r>
            <a:endParaRPr lang="en-US" sz="1300"/>
          </a:p>
          <a:p>
            <a:pPr>
              <a:buFont typeface="Arial"/>
              <a:buChar char="•"/>
            </a:pPr>
            <a:r>
              <a:rPr lang="en-US" sz="1300">
                <a:ea typeface="+mn-lt"/>
                <a:cs typeface="+mn-lt"/>
              </a:rPr>
              <a:t>50-60 crore BDT in annual energy cost reductions</a:t>
            </a:r>
            <a:endParaRPr lang="en-US" sz="1300"/>
          </a:p>
          <a:p>
            <a:pPr indent="0">
              <a:buNone/>
            </a:pPr>
            <a:r>
              <a:rPr lang="en-US" sz="1300" b="1">
                <a:ea typeface="+mn-lt"/>
                <a:cs typeface="+mn-lt"/>
              </a:rPr>
              <a:t>Environmental Benefits:</a:t>
            </a:r>
            <a:endParaRPr lang="en-US" sz="1300"/>
          </a:p>
          <a:p>
            <a:pPr>
              <a:buFont typeface="Arial"/>
              <a:buChar char="•"/>
            </a:pPr>
            <a:r>
              <a:rPr lang="en-US" sz="1300">
                <a:ea typeface="+mn-lt"/>
                <a:cs typeface="+mn-lt"/>
              </a:rPr>
              <a:t>CO₂ emission reduction: 1.5 million tons per year</a:t>
            </a:r>
            <a:endParaRPr lang="en-US" sz="1300"/>
          </a:p>
          <a:p>
            <a:pPr>
              <a:buFont typeface="Arial"/>
              <a:buChar char="•"/>
            </a:pPr>
            <a:r>
              <a:rPr lang="en-US" sz="1300">
                <a:ea typeface="+mn-lt"/>
                <a:cs typeface="+mn-lt"/>
              </a:rPr>
              <a:t>Water conservation: 2-3 billion liters annually</a:t>
            </a:r>
            <a:endParaRPr lang="en-US" sz="1300"/>
          </a:p>
          <a:p>
            <a:pPr indent="0">
              <a:buNone/>
            </a:pPr>
            <a:r>
              <a:rPr lang="en-US" sz="1300" b="1">
                <a:ea typeface="+mn-lt"/>
                <a:cs typeface="+mn-lt"/>
              </a:rPr>
              <a:t>Social Benefits:</a:t>
            </a:r>
            <a:endParaRPr lang="en-US" sz="1300"/>
          </a:p>
          <a:p>
            <a:pPr>
              <a:buFont typeface="Arial"/>
              <a:buChar char="•"/>
            </a:pPr>
            <a:r>
              <a:rPr lang="en-US" sz="1300">
                <a:ea typeface="+mn-lt"/>
                <a:cs typeface="+mn-lt"/>
              </a:rPr>
              <a:t>Job creation: 20,000-50,000 new positions</a:t>
            </a:r>
            <a:endParaRPr lang="en-US" sz="1300"/>
          </a:p>
          <a:p>
            <a:pPr>
              <a:buFont typeface="Arial"/>
              <a:buChar char="•"/>
            </a:pPr>
            <a:r>
              <a:rPr lang="en-US" sz="1300">
                <a:ea typeface="+mn-lt"/>
                <a:cs typeface="+mn-lt"/>
              </a:rPr>
              <a:t>60% reduction in unplanned outage duration</a:t>
            </a:r>
            <a:endParaRPr lang="en-US" sz="1300"/>
          </a:p>
          <a:p>
            <a:pPr>
              <a:buFont typeface="Arial"/>
              <a:buChar char="•"/>
            </a:pPr>
            <a:r>
              <a:rPr lang="en-US" sz="1300">
                <a:ea typeface="+mn-lt"/>
                <a:cs typeface="+mn-lt"/>
              </a:rPr>
              <a:t>40% fewer billing disputes</a:t>
            </a:r>
            <a:endParaRPr lang="en-US" sz="1300"/>
          </a:p>
          <a:p>
            <a:pPr marL="0" indent="0">
              <a:buNone/>
            </a:pPr>
            <a:endParaRPr lang="en-US" sz="130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0019771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58E9E-ED0E-ECF1-5725-2686B77EC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9978" y="741391"/>
            <a:ext cx="3369234" cy="1616203"/>
          </a:xfrm>
        </p:spPr>
        <p:txBody>
          <a:bodyPr anchor="b">
            <a:normAutofit/>
          </a:bodyPr>
          <a:lstStyle/>
          <a:p>
            <a:r>
              <a:rPr lang="en-US" sz="3200" b="1">
                <a:latin typeface="Helvetica Neue"/>
              </a:rPr>
              <a:t>Why Invest in CLIX</a:t>
            </a:r>
            <a:endParaRPr lang="en-US" sz="3200"/>
          </a:p>
        </p:txBody>
      </p:sp>
      <p:pic>
        <p:nvPicPr>
          <p:cNvPr id="4" name="Picture 3" descr="person standing near the stairs">
            <a:extLst>
              <a:ext uri="{FF2B5EF4-FFF2-40B4-BE49-F238E27FC236}">
                <a16:creationId xmlns:a16="http://schemas.microsoft.com/office/drawing/2014/main" id="{BD9B9EFC-F8E4-23DD-2C96-4366B11D3A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400" r="9669" b="-1"/>
          <a:stretch/>
        </p:blipFill>
        <p:spPr>
          <a:xfrm>
            <a:off x="20" y="10"/>
            <a:ext cx="7390243" cy="685799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879677" y="2347416"/>
            <a:ext cx="1630908" cy="7390262"/>
          </a:xfrm>
          <a:prstGeom prst="rect">
            <a:avLst/>
          </a:prstGeom>
          <a:gradFill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-1919061" y="1919060"/>
            <a:ext cx="6854280" cy="301615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461657" y="4425055"/>
            <a:ext cx="2928605" cy="243294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E6605-87EB-0428-043E-0216BEA92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9978" y="2533476"/>
            <a:ext cx="3369234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endParaRPr lang="en-US" sz="1300" b="1">
              <a:latin typeface="Helvetica Neue"/>
              <a:ea typeface="Calibri" panose="020F0502020204030204"/>
              <a:cs typeface="Calibri" panose="020F0502020204030204"/>
            </a:endParaRPr>
          </a:p>
          <a:p>
            <a:pPr>
              <a:buFont typeface="Arial"/>
              <a:buChar char="•"/>
            </a:pPr>
            <a:r>
              <a:rPr lang="en-US" sz="1300" dirty="0">
                <a:latin typeface="Helvetica Neue"/>
                <a:ea typeface="Calibri" panose="020F0502020204030204"/>
                <a:cs typeface="Calibri" panose="020F0502020204030204"/>
              </a:rPr>
              <a:t>Building on proven success of Chattogram WASA's smart meter pilot</a:t>
            </a:r>
            <a:endParaRPr lang="en-US" sz="1300" dirty="0">
              <a:ea typeface="Calibri" panose="020F0502020204030204"/>
              <a:cs typeface="Calibri" panose="020F0502020204030204"/>
            </a:endParaRPr>
          </a:p>
          <a:p>
            <a:pPr>
              <a:buFont typeface="Arial"/>
              <a:buChar char="•"/>
            </a:pPr>
            <a:r>
              <a:rPr lang="en-US" sz="1300">
                <a:latin typeface="Helvetica Neue"/>
                <a:ea typeface="Calibri" panose="020F0502020204030204"/>
                <a:cs typeface="Calibri" panose="020F0502020204030204"/>
              </a:rPr>
              <a:t>Comprehensive implementation plan with clear milestones</a:t>
            </a:r>
            <a:endParaRPr lang="en-US" sz="1300"/>
          </a:p>
          <a:p>
            <a:pPr>
              <a:buFont typeface="Arial"/>
              <a:buChar char="•"/>
            </a:pPr>
            <a:r>
              <a:rPr lang="en-US" sz="1300">
                <a:latin typeface="Helvetica Neue"/>
                <a:ea typeface="Calibri" panose="020F0502020204030204"/>
                <a:cs typeface="Calibri" panose="020F0502020204030204"/>
              </a:rPr>
              <a:t>Multiple revenue streams ensuring long-term sustainability</a:t>
            </a:r>
            <a:endParaRPr lang="en-US" sz="1300"/>
          </a:p>
          <a:p>
            <a:pPr indent="0">
              <a:buNone/>
            </a:pPr>
            <a:r>
              <a:rPr lang="en-US" sz="1300" b="1">
                <a:latin typeface="Helvetica Neue"/>
                <a:ea typeface="Calibri" panose="020F0502020204030204"/>
                <a:cs typeface="Calibri" panose="020F0502020204030204"/>
              </a:rPr>
              <a:t>Key Impact Quote:</a:t>
            </a:r>
            <a:r>
              <a:rPr lang="en-US" sz="1300">
                <a:latin typeface="Helvetica Neue"/>
                <a:ea typeface="Calibri" panose="020F0502020204030204"/>
                <a:cs typeface="Calibri" panose="020F0502020204030204"/>
              </a:rPr>
              <a:t> "We are losing more than Tk45 crore in revenue every year [just in Chattogram]. WASA officials hope that digital meters can prevent this wastage and corruption." (</a:t>
            </a:r>
            <a:r>
              <a:rPr lang="en-US" sz="1300">
                <a:latin typeface="Helvetica Neue"/>
                <a:ea typeface="Calibri" panose="020F0502020204030204"/>
                <a:cs typeface="Calibri" panose="020F0502020204030204"/>
                <a:hlinkClick r:id="rId3"/>
              </a:rPr>
              <a:t>The Business Standard, 2022</a:t>
            </a:r>
            <a:r>
              <a:rPr lang="en-US" sz="1300">
                <a:latin typeface="Helvetica Neue"/>
                <a:ea typeface="Calibri" panose="020F0502020204030204"/>
                <a:cs typeface="Calibri" panose="020F0502020204030204"/>
              </a:rPr>
              <a:t>)</a:t>
            </a:r>
            <a:endParaRPr lang="en-US" sz="1300"/>
          </a:p>
          <a:p>
            <a:pPr marL="0" indent="0">
              <a:buNone/>
            </a:pPr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19612069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hc03-young-steve-jobs-face - Papers.co">
            <a:extLst>
              <a:ext uri="{FF2B5EF4-FFF2-40B4-BE49-F238E27FC236}">
                <a16:creationId xmlns:a16="http://schemas.microsoft.com/office/drawing/2014/main" id="{CF47D00C-9D7B-05C5-50A0-792FA188DD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07" r="5607"/>
          <a:stretch/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B8CD00-572C-A9D3-2DC3-FD8334265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ea typeface="+mj-lt"/>
                <a:cs typeface="+mj-lt"/>
              </a:rPr>
              <a:t>Thank You</a:t>
            </a:r>
            <a:endParaRPr lang="en-US" sz="4000"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C4DC9-2E4D-EC96-95E6-23F390B40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1" y="2884929"/>
            <a:ext cx="4659756" cy="337413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2000" dirty="0">
                <a:latin typeface="Arial"/>
                <a:ea typeface="Calibri" panose="020F0502020204030204"/>
                <a:cs typeface="Arial"/>
              </a:rPr>
              <a:t>"The people who are crazy enough to think they can change the world are the ones who do." - Steve Jobs</a:t>
            </a:r>
            <a:endParaRPr lang="en-US" sz="200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871293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CLIX: AI-Driven Smart Utility Management System for Bangladesh</vt:lpstr>
      <vt:lpstr>THE PROBLEM - CRITICAL INFRASTRUCTURE LOSSES  </vt:lpstr>
      <vt:lpstr>Water Supply Crisis  </vt:lpstr>
      <vt:lpstr>Electricity Distribution Failures</vt:lpstr>
      <vt:lpstr>Gas System Inefficiencies  </vt:lpstr>
      <vt:lpstr> The Solution: CLIX (Convenient Living &amp; Integrated Experience)</vt:lpstr>
      <vt:lpstr>Dashboard  </vt:lpstr>
      <vt:lpstr>Outage Map    </vt:lpstr>
      <vt:lpstr>Recharge History  </vt:lpstr>
      <vt:lpstr>CLIX Overview</vt:lpstr>
      <vt:lpstr>Now What is AND Why LoRaWAN?  </vt:lpstr>
      <vt:lpstr>What is LoRaWAN?</vt:lpstr>
      <vt:lpstr>Technical Advantages of LoRaWAN</vt:lpstr>
      <vt:lpstr>Global Evidence for LoRaWAN Effectiveness</vt:lpstr>
      <vt:lpstr>Proven Evidence of LoRa Success in Bangladesh</vt:lpstr>
      <vt:lpstr>As Is System</vt:lpstr>
      <vt:lpstr>To Be</vt:lpstr>
      <vt:lpstr>Market Size &amp; Opportunity</vt:lpstr>
      <vt:lpstr>Survey Analytics</vt:lpstr>
      <vt:lpstr>Survey Analytics</vt:lpstr>
      <vt:lpstr>Implementation Plan</vt:lpstr>
      <vt:lpstr>System Architecture</vt:lpstr>
      <vt:lpstr>Comparative Analysis</vt:lpstr>
      <vt:lpstr>REVENUE Model</vt:lpstr>
      <vt:lpstr>Economic Feasibility</vt:lpstr>
      <vt:lpstr>SUSTAINABILITY</vt:lpstr>
      <vt:lpstr>Why Invest in CLIX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303</cp:revision>
  <dcterms:created xsi:type="dcterms:W3CDTF">2025-05-07T17:07:54Z</dcterms:created>
  <dcterms:modified xsi:type="dcterms:W3CDTF">2025-05-07T19:22:38Z</dcterms:modified>
</cp:coreProperties>
</file>